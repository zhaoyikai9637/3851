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176"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1493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Zhao Yikai, and today I will share the part of the JRS project that I completed during the interim phase. I will mainly explain what I designed, how I refined the scope, and how my work connects with the wider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my individual contribution, I worked on the HR notification module. The aim was to give HR a clear place to follow important updates and keep track of emails sent to candidates. I also designed the profile pages linked to the avatar in the top-right corner. Since these pages are part of the same HR workspace, I kept the layout and visual style consistent so the whole section feels connected and easy to use.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challenge was defining my scope of work, as my initial design repeated several features that other team members had already covered. After comparing our interfaces and discussing workflows, I removed these overlaps, retaining a smaller, clearer scope. This allowed me to focus on the actual purpose of my module and reduced the chance of duplicated work when the team begins system integration.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that change, the process became simple: another part of the system handles the recruitment decision, my area tells HR what happened, supports the message sent to the candidate, and keeps a record that can be checked later. For example, when an application moves to a new stage, HR can see the update, review the related message, and later confirm what was sent.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gives HR a quick overview of what has changed. New applications and status updates appear in one place, unread items are easy to notice, and HR can open the related application directly when more details are needed. I designed it this way because HR may need to review many applications during the day, so important changes should be easy to find without searching through several different pages.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part helps HR prepare standard email wording once and reuse it when communicating with candidates, then after a message is sent, the history page keeps the main details, so previous communication is easy to review. It gives HR a clear reference if a candidate asks a question or if the team needs to check an earlier message.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noticed that the HR name and avatar in the top-right corner looked interactive, but there was no account function behind them. To complete this part of the interface, I added a simple account menu that leads to the profile and edit pages. HR users can update their basic personal details, while official work information remains protected by the system. I believe that this is consistent with real corporate systems.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database design, I mainly considered how the notification module would work with the rest of the system. Each notification or email is connected to the relevant candidate and application, so HR can follow the full record when needed. I also planned where profile information and attachments would be stored. Once the system is connected to real data, HR will be able to open a message and quickly find the related recruitment record.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 this project, I learned how different parts of a recruitment system should work together, and how important it is to keep the design consistent. Feedback from my team and supervisor helped me improve my work before the deadline, and the module is now ready for Part B.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3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3F8"/>
          </a:solidFill>
          <a:ln w="12700">
            <a:solidFill>
              <a:srgbClr val="EEF3F8"/>
            </a:solidFill>
            <a:prstDash val="solid"/>
          </a:ln>
        </p:spPr>
        <p:txBody>
          <a:bodyPr/>
          <a:lstStyle/>
          <a:p>
            <a:endParaRPr lang="zh-CN" altLang="en-US"/>
          </a:p>
        </p:txBody>
      </p:sp>
      <p:sp>
        <p:nvSpPr>
          <p:cNvPr id="3" name="Shape 1"/>
          <p:cNvSpPr/>
          <p:nvPr/>
        </p:nvSpPr>
        <p:spPr>
          <a:xfrm>
            <a:off x="0" y="0"/>
            <a:ext cx="3749040" cy="6858000"/>
          </a:xfrm>
          <a:prstGeom prst="rect">
            <a:avLst/>
          </a:prstGeom>
          <a:solidFill>
            <a:srgbClr val="142138"/>
          </a:solidFill>
          <a:ln w="12700">
            <a:solidFill>
              <a:srgbClr val="142138"/>
            </a:solidFill>
            <a:prstDash val="solid"/>
          </a:ln>
        </p:spPr>
        <p:txBody>
          <a:bodyPr/>
          <a:lstStyle/>
          <a:p>
            <a:endParaRPr lang="zh-CN" altLang="en-US"/>
          </a:p>
        </p:txBody>
      </p:sp>
      <p:sp>
        <p:nvSpPr>
          <p:cNvPr id="4" name="Shape 2"/>
          <p:cNvSpPr/>
          <p:nvPr/>
        </p:nvSpPr>
        <p:spPr>
          <a:xfrm>
            <a:off x="457200" y="502920"/>
            <a:ext cx="932688" cy="256032"/>
          </a:xfrm>
          <a:prstGeom prst="roundRect">
            <a:avLst>
              <a:gd name="adj" fmla="val 17857"/>
            </a:avLst>
          </a:prstGeom>
          <a:solidFill>
            <a:srgbClr val="FFFFFF"/>
          </a:solidFill>
          <a:ln w="12700">
            <a:solidFill>
              <a:srgbClr val="FFFFFF"/>
            </a:solidFill>
            <a:prstDash val="solid"/>
          </a:ln>
        </p:spPr>
        <p:txBody>
          <a:bodyPr/>
          <a:lstStyle/>
          <a:p>
            <a:endParaRPr lang="zh-CN" altLang="en-US"/>
          </a:p>
        </p:txBody>
      </p:sp>
      <p:sp>
        <p:nvSpPr>
          <p:cNvPr id="5" name="Text 3"/>
          <p:cNvSpPr/>
          <p:nvPr/>
        </p:nvSpPr>
        <p:spPr>
          <a:xfrm>
            <a:off x="530352" y="557784"/>
            <a:ext cx="749808" cy="118872"/>
          </a:xfrm>
          <a:prstGeom prst="rect">
            <a:avLst/>
          </a:prstGeom>
          <a:noFill/>
          <a:ln/>
        </p:spPr>
        <p:txBody>
          <a:bodyPr wrap="square" lIns="0" tIns="0" rIns="0" bIns="0" rtlCol="0" anchor="ctr"/>
          <a:lstStyle/>
          <a:p>
            <a:pPr marL="0" indent="0">
              <a:buNone/>
            </a:pPr>
            <a:r>
              <a:rPr lang="en-US" sz="800" b="1" dirty="0">
                <a:solidFill>
                  <a:srgbClr val="142138"/>
                </a:solidFill>
              </a:rPr>
              <a:t>● JRS</a:t>
            </a:r>
            <a:endParaRPr lang="en-US" sz="800" dirty="0"/>
          </a:p>
        </p:txBody>
      </p:sp>
      <p:sp>
        <p:nvSpPr>
          <p:cNvPr id="6" name="Text 4"/>
          <p:cNvSpPr/>
          <p:nvPr/>
        </p:nvSpPr>
        <p:spPr>
          <a:xfrm>
            <a:off x="530352" y="1892808"/>
            <a:ext cx="2011680" cy="182880"/>
          </a:xfrm>
          <a:prstGeom prst="rect">
            <a:avLst/>
          </a:prstGeom>
          <a:noFill/>
          <a:ln/>
        </p:spPr>
        <p:txBody>
          <a:bodyPr wrap="square" lIns="0" tIns="0" rIns="0" bIns="0" rtlCol="0" anchor="ctr"/>
          <a:lstStyle/>
          <a:p>
            <a:pPr marL="0" indent="0">
              <a:buNone/>
            </a:pPr>
            <a:r>
              <a:rPr lang="en-US" sz="700" dirty="0">
                <a:solidFill>
                  <a:srgbClr val="B9C7D9"/>
                </a:solidFill>
              </a:rPr>
              <a:t>Individual Presentation</a:t>
            </a:r>
            <a:endParaRPr lang="en-US" sz="700" dirty="0"/>
          </a:p>
        </p:txBody>
      </p:sp>
      <p:sp>
        <p:nvSpPr>
          <p:cNvPr id="7" name="Text 5"/>
          <p:cNvSpPr/>
          <p:nvPr/>
        </p:nvSpPr>
        <p:spPr>
          <a:xfrm>
            <a:off x="530352" y="2221992"/>
            <a:ext cx="2743200" cy="804672"/>
          </a:xfrm>
          <a:prstGeom prst="rect">
            <a:avLst/>
          </a:prstGeom>
          <a:noFill/>
          <a:ln/>
        </p:spPr>
        <p:txBody>
          <a:bodyPr wrap="square" lIns="0" tIns="0" rIns="0" bIns="0" rtlCol="0" anchor="ctr"/>
          <a:lstStyle/>
          <a:p>
            <a:pPr marL="0" indent="0">
              <a:buNone/>
            </a:pPr>
            <a:r>
              <a:rPr lang="en-US" sz="2300" b="1" dirty="0">
                <a:solidFill>
                  <a:srgbClr val="FFFFFF"/>
                </a:solidFill>
              </a:rPr>
              <a:t>Notification Module</a:t>
            </a:r>
            <a:endParaRPr lang="en-US" sz="2300" dirty="0"/>
          </a:p>
          <a:p>
            <a:pPr marL="0" indent="0">
              <a:buNone/>
            </a:pPr>
            <a:r>
              <a:rPr lang="en-US" sz="2300" b="1" dirty="0">
                <a:solidFill>
                  <a:srgbClr val="FFFFFF"/>
                </a:solidFill>
              </a:rPr>
              <a:t>&amp; HR Profile</a:t>
            </a:r>
            <a:endParaRPr lang="en-US" sz="2300" dirty="0"/>
          </a:p>
        </p:txBody>
      </p:sp>
      <p:sp>
        <p:nvSpPr>
          <p:cNvPr id="8" name="Text 6"/>
          <p:cNvSpPr/>
          <p:nvPr/>
        </p:nvSpPr>
        <p:spPr>
          <a:xfrm>
            <a:off x="530352" y="3310128"/>
            <a:ext cx="2103120" cy="118872"/>
          </a:xfrm>
          <a:prstGeom prst="rect">
            <a:avLst/>
          </a:prstGeom>
          <a:noFill/>
          <a:ln/>
        </p:spPr>
        <p:txBody>
          <a:bodyPr wrap="square" lIns="0" tIns="0" rIns="0" bIns="0" rtlCol="0" anchor="ctr"/>
          <a:lstStyle/>
          <a:p>
            <a:pPr marL="0" indent="0">
              <a:buNone/>
            </a:pPr>
            <a:r>
              <a:rPr lang="en-US" sz="700" dirty="0">
                <a:solidFill>
                  <a:srgbClr val="B9C7D9"/>
                </a:solidFill>
              </a:rPr>
              <a:t>Zhao Yikai | </a:t>
            </a:r>
            <a:r>
              <a:rPr lang="en-US" altLang="zh-CN" sz="700" dirty="0">
                <a:solidFill>
                  <a:srgbClr val="B9C7D9"/>
                </a:solidFill>
              </a:rPr>
              <a:t>C3543471</a:t>
            </a:r>
            <a:endParaRPr lang="en-US" sz="700" dirty="0"/>
          </a:p>
        </p:txBody>
      </p:sp>
      <p:sp>
        <p:nvSpPr>
          <p:cNvPr id="9" name="Shape 7"/>
          <p:cNvSpPr/>
          <p:nvPr/>
        </p:nvSpPr>
        <p:spPr>
          <a:xfrm>
            <a:off x="4553712" y="987552"/>
            <a:ext cx="6940296" cy="4425696"/>
          </a:xfrm>
          <a:prstGeom prst="roundRect">
            <a:avLst>
              <a:gd name="adj" fmla="val 1653"/>
            </a:avLst>
          </a:prstGeom>
          <a:solidFill>
            <a:srgbClr val="FFFFFF"/>
          </a:solidFill>
          <a:ln w="12700">
            <a:solidFill>
              <a:srgbClr val="D7E3F2"/>
            </a:solidFill>
            <a:prstDash val="solid"/>
          </a:ln>
        </p:spPr>
        <p:txBody>
          <a:bodyPr/>
          <a:lstStyle/>
          <a:p>
            <a:endParaRPr lang="zh-CN" altLang="en-US"/>
          </a:p>
        </p:txBody>
      </p:sp>
      <p:pic>
        <p:nvPicPr>
          <p:cNvPr id="10" name="Image 0" descr="/mnt/data/notification_center_screen.png"/>
          <p:cNvPicPr>
            <a:picLocks noChangeAspect="1"/>
          </p:cNvPicPr>
          <p:nvPr/>
        </p:nvPicPr>
        <p:blipFill>
          <a:blip r:embed="rId3"/>
          <a:stretch>
            <a:fillRect/>
          </a:stretch>
        </p:blipFill>
        <p:spPr>
          <a:xfrm>
            <a:off x="4572000" y="1008002"/>
            <a:ext cx="6903720" cy="4384795"/>
          </a:xfrm>
          <a:prstGeom prst="rect">
            <a:avLst/>
          </a:prstGeom>
        </p:spPr>
      </p:pic>
      <p:sp>
        <p:nvSpPr>
          <p:cNvPr id="11" name="Shape 8"/>
          <p:cNvSpPr/>
          <p:nvPr/>
        </p:nvSpPr>
        <p:spPr>
          <a:xfrm>
            <a:off x="4572000" y="5715000"/>
            <a:ext cx="1463040" cy="301752"/>
          </a:xfrm>
          <a:prstGeom prst="roundRect">
            <a:avLst>
              <a:gd name="adj" fmla="val 48485"/>
            </a:avLst>
          </a:prstGeom>
          <a:solidFill>
            <a:srgbClr val="EAF2FF"/>
          </a:solidFill>
          <a:ln w="12700">
            <a:solidFill>
              <a:srgbClr val="EAF2FF"/>
            </a:solidFill>
            <a:prstDash val="solid"/>
          </a:ln>
        </p:spPr>
        <p:txBody>
          <a:bodyPr/>
          <a:lstStyle/>
          <a:p>
            <a:endParaRPr lang="zh-CN" altLang="en-US"/>
          </a:p>
        </p:txBody>
      </p:sp>
      <p:sp>
        <p:nvSpPr>
          <p:cNvPr id="12" name="Text 9"/>
          <p:cNvSpPr/>
          <p:nvPr/>
        </p:nvSpPr>
        <p:spPr>
          <a:xfrm>
            <a:off x="4617720" y="5797296"/>
            <a:ext cx="1371600" cy="137160"/>
          </a:xfrm>
          <a:prstGeom prst="rect">
            <a:avLst/>
          </a:prstGeom>
          <a:noFill/>
          <a:ln/>
        </p:spPr>
        <p:txBody>
          <a:bodyPr wrap="square" lIns="0" tIns="0" rIns="0" bIns="0" rtlCol="0" anchor="ctr"/>
          <a:lstStyle/>
          <a:p>
            <a:pPr marL="0" indent="0" algn="ctr">
              <a:buNone/>
            </a:pPr>
            <a:r>
              <a:rPr lang="en-US" sz="750" b="1" dirty="0">
                <a:solidFill>
                  <a:srgbClr val="316CEB"/>
                </a:solidFill>
              </a:rPr>
              <a:t>Scope refined</a:t>
            </a:r>
            <a:endParaRPr lang="en-US" sz="750" dirty="0"/>
          </a:p>
        </p:txBody>
      </p:sp>
      <p:sp>
        <p:nvSpPr>
          <p:cNvPr id="13" name="Shape 10"/>
          <p:cNvSpPr/>
          <p:nvPr/>
        </p:nvSpPr>
        <p:spPr>
          <a:xfrm>
            <a:off x="6263640" y="5715000"/>
            <a:ext cx="1645920" cy="301752"/>
          </a:xfrm>
          <a:prstGeom prst="roundRect">
            <a:avLst>
              <a:gd name="adj" fmla="val 48485"/>
            </a:avLst>
          </a:prstGeom>
          <a:solidFill>
            <a:srgbClr val="EAF2FF"/>
          </a:solidFill>
          <a:ln w="12700">
            <a:solidFill>
              <a:srgbClr val="EAF2FF"/>
            </a:solidFill>
            <a:prstDash val="solid"/>
          </a:ln>
        </p:spPr>
        <p:txBody>
          <a:bodyPr/>
          <a:lstStyle/>
          <a:p>
            <a:endParaRPr lang="zh-CN" altLang="en-US"/>
          </a:p>
        </p:txBody>
      </p:sp>
      <p:sp>
        <p:nvSpPr>
          <p:cNvPr id="14" name="Text 11"/>
          <p:cNvSpPr/>
          <p:nvPr/>
        </p:nvSpPr>
        <p:spPr>
          <a:xfrm>
            <a:off x="6309360" y="5797296"/>
            <a:ext cx="1554480" cy="137160"/>
          </a:xfrm>
          <a:prstGeom prst="rect">
            <a:avLst/>
          </a:prstGeom>
          <a:noFill/>
          <a:ln/>
        </p:spPr>
        <p:txBody>
          <a:bodyPr wrap="square" lIns="0" tIns="0" rIns="0" bIns="0" rtlCol="0" anchor="ctr"/>
          <a:lstStyle/>
          <a:p>
            <a:pPr marL="0" indent="0" algn="ctr">
              <a:buNone/>
            </a:pPr>
            <a:r>
              <a:rPr lang="en-US" sz="750" b="1" dirty="0">
                <a:solidFill>
                  <a:srgbClr val="7B61FF"/>
                </a:solidFill>
              </a:rPr>
              <a:t>Connected workflow</a:t>
            </a:r>
            <a:endParaRPr lang="en-US" sz="750" dirty="0"/>
          </a:p>
        </p:txBody>
      </p:sp>
      <p:sp>
        <p:nvSpPr>
          <p:cNvPr id="15" name="Shape 12"/>
          <p:cNvSpPr/>
          <p:nvPr/>
        </p:nvSpPr>
        <p:spPr>
          <a:xfrm>
            <a:off x="8138160" y="5715000"/>
            <a:ext cx="1463040" cy="301752"/>
          </a:xfrm>
          <a:prstGeom prst="roundRect">
            <a:avLst>
              <a:gd name="adj" fmla="val 48485"/>
            </a:avLst>
          </a:prstGeom>
          <a:solidFill>
            <a:srgbClr val="EAF2FF"/>
          </a:solidFill>
          <a:ln w="12700">
            <a:solidFill>
              <a:srgbClr val="EAF2FF"/>
            </a:solidFill>
            <a:prstDash val="solid"/>
          </a:ln>
        </p:spPr>
        <p:txBody>
          <a:bodyPr/>
          <a:lstStyle/>
          <a:p>
            <a:endParaRPr lang="zh-CN" altLang="en-US"/>
          </a:p>
        </p:txBody>
      </p:sp>
      <p:sp>
        <p:nvSpPr>
          <p:cNvPr id="16" name="Text 13"/>
          <p:cNvSpPr/>
          <p:nvPr/>
        </p:nvSpPr>
        <p:spPr>
          <a:xfrm>
            <a:off x="8183880" y="5797296"/>
            <a:ext cx="1371600" cy="137160"/>
          </a:xfrm>
          <a:prstGeom prst="rect">
            <a:avLst/>
          </a:prstGeom>
          <a:noFill/>
          <a:ln/>
        </p:spPr>
        <p:txBody>
          <a:bodyPr wrap="square" lIns="0" tIns="0" rIns="0" bIns="0" rtlCol="0" anchor="ctr"/>
          <a:lstStyle/>
          <a:p>
            <a:pPr marL="0" indent="0" algn="ctr">
              <a:buNone/>
            </a:pPr>
            <a:r>
              <a:rPr lang="en-US" sz="750" b="1" dirty="0">
                <a:solidFill>
                  <a:srgbClr val="2EAD68"/>
                </a:solidFill>
              </a:rPr>
              <a:t>Ready for Part B</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3F8"/>
          </a:solidFill>
          <a:ln w="12700">
            <a:solidFill>
              <a:srgbClr val="EEF3F8"/>
            </a:solidFill>
            <a:prstDash val="solid"/>
          </a:ln>
        </p:spPr>
        <p:txBody>
          <a:bodyPr/>
          <a:lstStyle/>
          <a:p>
            <a:endParaRPr lang="zh-CN" altLang="en-US" dirty="0"/>
          </a:p>
        </p:txBody>
      </p:sp>
      <p:sp>
        <p:nvSpPr>
          <p:cNvPr id="3" name="Text 1"/>
          <p:cNvSpPr/>
          <p:nvPr/>
        </p:nvSpPr>
        <p:spPr>
          <a:xfrm>
            <a:off x="411480" y="292608"/>
            <a:ext cx="7680960" cy="310896"/>
          </a:xfrm>
          <a:prstGeom prst="rect">
            <a:avLst/>
          </a:prstGeom>
          <a:noFill/>
          <a:ln/>
        </p:spPr>
        <p:txBody>
          <a:bodyPr wrap="square" lIns="0" tIns="0" rIns="0" bIns="0" rtlCol="0" anchor="ctr"/>
          <a:lstStyle/>
          <a:p>
            <a:pPr marL="0" indent="0">
              <a:buNone/>
            </a:pPr>
            <a:r>
              <a:rPr lang="en-US" sz="2000" b="1" dirty="0">
                <a:solidFill>
                  <a:srgbClr val="172238"/>
                </a:solidFill>
                <a:latin typeface="Arial" pitchFamily="34" charset="0"/>
                <a:ea typeface="Arial" pitchFamily="34" charset="-122"/>
                <a:cs typeface="Arial" pitchFamily="34" charset="-120"/>
              </a:rPr>
              <a:t>My responsibility inside JRS</a:t>
            </a:r>
            <a:endParaRPr lang="en-US" sz="2000" dirty="0"/>
          </a:p>
        </p:txBody>
      </p:sp>
      <p:sp>
        <p:nvSpPr>
          <p:cNvPr id="4" name="Text 2"/>
          <p:cNvSpPr/>
          <p:nvPr/>
        </p:nvSpPr>
        <p:spPr>
          <a:xfrm>
            <a:off x="411480" y="685800"/>
            <a:ext cx="7772400" cy="256032"/>
          </a:xfrm>
          <a:prstGeom prst="rect">
            <a:avLst/>
          </a:prstGeom>
          <a:noFill/>
          <a:ln/>
        </p:spPr>
        <p:txBody>
          <a:bodyPr wrap="square" lIns="0" tIns="0" rIns="0" bIns="0" rtlCol="0" anchor="ctr"/>
          <a:lstStyle/>
          <a:p>
            <a:pPr marL="0" indent="0">
              <a:buNone/>
            </a:pPr>
            <a:endParaRPr lang="en-US" sz="850" dirty="0"/>
          </a:p>
        </p:txBody>
      </p:sp>
      <p:sp>
        <p:nvSpPr>
          <p:cNvPr id="5" name="Text 3"/>
          <p:cNvSpPr/>
          <p:nvPr/>
        </p:nvSpPr>
        <p:spPr>
          <a:xfrm>
            <a:off x="411480" y="6446520"/>
            <a:ext cx="3749040" cy="146304"/>
          </a:xfrm>
          <a:prstGeom prst="rect">
            <a:avLst/>
          </a:prstGeom>
          <a:noFill/>
          <a:ln/>
        </p:spPr>
        <p:txBody>
          <a:bodyPr wrap="square" lIns="0" tIns="0" rIns="0" bIns="0" rtlCol="0" anchor="ctr"/>
          <a:lstStyle/>
          <a:p>
            <a:pPr marL="0" indent="0">
              <a:buNone/>
            </a:pPr>
            <a:r>
              <a:rPr lang="en-US" sz="580" dirty="0">
                <a:solidFill>
                  <a:srgbClr val="8A98AD"/>
                </a:solidFill>
              </a:rPr>
              <a:t>JRS Individual Presentation | Zhao Yikai</a:t>
            </a:r>
            <a:endParaRPr lang="en-US" sz="580" dirty="0"/>
          </a:p>
        </p:txBody>
      </p:sp>
      <p:sp>
        <p:nvSpPr>
          <p:cNvPr id="6" name="Text 4"/>
          <p:cNvSpPr/>
          <p:nvPr/>
        </p:nvSpPr>
        <p:spPr>
          <a:xfrm>
            <a:off x="11722608" y="6446520"/>
            <a:ext cx="91440" cy="146304"/>
          </a:xfrm>
          <a:prstGeom prst="rect">
            <a:avLst/>
          </a:prstGeom>
          <a:noFill/>
          <a:ln/>
        </p:spPr>
        <p:txBody>
          <a:bodyPr wrap="square" lIns="0" tIns="0" rIns="0" bIns="0" rtlCol="0" anchor="ctr"/>
          <a:lstStyle/>
          <a:p>
            <a:pPr marL="0" indent="0" algn="r">
              <a:buNone/>
            </a:pPr>
            <a:r>
              <a:rPr lang="en-US" sz="550" dirty="0">
                <a:solidFill>
                  <a:srgbClr val="8A98AD"/>
                </a:solidFill>
              </a:rPr>
              <a:t>2</a:t>
            </a:r>
            <a:endParaRPr lang="en-US" sz="550" dirty="0"/>
          </a:p>
        </p:txBody>
      </p:sp>
      <p:sp>
        <p:nvSpPr>
          <p:cNvPr id="7" name="Shape 5"/>
          <p:cNvSpPr/>
          <p:nvPr/>
        </p:nvSpPr>
        <p:spPr>
          <a:xfrm>
            <a:off x="502920" y="1051560"/>
            <a:ext cx="2926080" cy="4480560"/>
          </a:xfrm>
          <a:prstGeom prst="roundRect">
            <a:avLst>
              <a:gd name="adj" fmla="val 2500"/>
            </a:avLst>
          </a:prstGeom>
          <a:solidFill>
            <a:srgbClr val="FFFFFF"/>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8" name="Text 6"/>
          <p:cNvSpPr/>
          <p:nvPr/>
        </p:nvSpPr>
        <p:spPr>
          <a:xfrm>
            <a:off x="786384" y="1353312"/>
            <a:ext cx="2194560" cy="228600"/>
          </a:xfrm>
          <a:prstGeom prst="rect">
            <a:avLst/>
          </a:prstGeom>
          <a:noFill/>
          <a:ln/>
        </p:spPr>
        <p:txBody>
          <a:bodyPr wrap="square" lIns="0" tIns="0" rIns="0" bIns="0" rtlCol="0" anchor="ctr"/>
          <a:lstStyle/>
          <a:p>
            <a:pPr marL="0" indent="0">
              <a:buNone/>
            </a:pPr>
            <a:r>
              <a:rPr lang="en-US" sz="1400" b="1" dirty="0">
                <a:solidFill>
                  <a:srgbClr val="172238"/>
                </a:solidFill>
              </a:rPr>
              <a:t>My assigned area</a:t>
            </a:r>
            <a:endParaRPr lang="en-US" sz="1400" dirty="0"/>
          </a:p>
        </p:txBody>
      </p:sp>
      <p:sp>
        <p:nvSpPr>
          <p:cNvPr id="9" name="Shape 7"/>
          <p:cNvSpPr/>
          <p:nvPr/>
        </p:nvSpPr>
        <p:spPr>
          <a:xfrm>
            <a:off x="804672" y="1920240"/>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10" name="Text 8"/>
          <p:cNvSpPr/>
          <p:nvPr/>
        </p:nvSpPr>
        <p:spPr>
          <a:xfrm>
            <a:off x="1005840" y="1874520"/>
            <a:ext cx="214884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Help HR follow important updates</a:t>
            </a:r>
            <a:endParaRPr lang="en-US" sz="1000" dirty="0"/>
          </a:p>
        </p:txBody>
      </p:sp>
      <p:sp>
        <p:nvSpPr>
          <p:cNvPr id="11" name="Shape 9"/>
          <p:cNvSpPr/>
          <p:nvPr/>
        </p:nvSpPr>
        <p:spPr>
          <a:xfrm>
            <a:off x="804672" y="2468880"/>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12" name="Text 10"/>
          <p:cNvSpPr/>
          <p:nvPr/>
        </p:nvSpPr>
        <p:spPr>
          <a:xfrm>
            <a:off x="1005840" y="2423160"/>
            <a:ext cx="214884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Track emails sent to candidates</a:t>
            </a:r>
            <a:endParaRPr lang="en-US" sz="1000" dirty="0"/>
          </a:p>
        </p:txBody>
      </p:sp>
      <p:sp>
        <p:nvSpPr>
          <p:cNvPr id="13" name="Shape 11"/>
          <p:cNvSpPr/>
          <p:nvPr/>
        </p:nvSpPr>
        <p:spPr>
          <a:xfrm>
            <a:off x="804672" y="3017520"/>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14" name="Text 12"/>
          <p:cNvSpPr/>
          <p:nvPr/>
        </p:nvSpPr>
        <p:spPr>
          <a:xfrm>
            <a:off x="1005840" y="2971800"/>
            <a:ext cx="214884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Complete account pages from avatar</a:t>
            </a:r>
            <a:endParaRPr lang="en-US" sz="1000" dirty="0"/>
          </a:p>
        </p:txBody>
      </p:sp>
      <p:sp>
        <p:nvSpPr>
          <p:cNvPr id="15" name="Shape 13"/>
          <p:cNvSpPr/>
          <p:nvPr/>
        </p:nvSpPr>
        <p:spPr>
          <a:xfrm>
            <a:off x="804672" y="3566160"/>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16" name="Text 14"/>
          <p:cNvSpPr/>
          <p:nvPr/>
        </p:nvSpPr>
        <p:spPr>
          <a:xfrm>
            <a:off x="1005840" y="3520440"/>
            <a:ext cx="214884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Keep one consistent HR workspace</a:t>
            </a:r>
            <a:endParaRPr lang="en-US" sz="1000" dirty="0"/>
          </a:p>
        </p:txBody>
      </p:sp>
      <p:sp>
        <p:nvSpPr>
          <p:cNvPr id="17" name="Shape 15"/>
          <p:cNvSpPr/>
          <p:nvPr/>
        </p:nvSpPr>
        <p:spPr>
          <a:xfrm>
            <a:off x="804672" y="4800600"/>
            <a:ext cx="1325880" cy="301752"/>
          </a:xfrm>
          <a:prstGeom prst="roundRect">
            <a:avLst>
              <a:gd name="adj" fmla="val 48485"/>
            </a:avLst>
          </a:prstGeom>
          <a:solidFill>
            <a:srgbClr val="EAF2FF"/>
          </a:solidFill>
          <a:ln w="12700">
            <a:solidFill>
              <a:srgbClr val="EAF2FF"/>
            </a:solidFill>
            <a:prstDash val="solid"/>
          </a:ln>
        </p:spPr>
        <p:txBody>
          <a:bodyPr/>
          <a:lstStyle/>
          <a:p>
            <a:endParaRPr lang="zh-CN" altLang="en-US"/>
          </a:p>
        </p:txBody>
      </p:sp>
      <p:sp>
        <p:nvSpPr>
          <p:cNvPr id="18" name="Text 16"/>
          <p:cNvSpPr/>
          <p:nvPr/>
        </p:nvSpPr>
        <p:spPr>
          <a:xfrm>
            <a:off x="850392" y="4882896"/>
            <a:ext cx="1234440" cy="137160"/>
          </a:xfrm>
          <a:prstGeom prst="rect">
            <a:avLst/>
          </a:prstGeom>
          <a:noFill/>
          <a:ln/>
        </p:spPr>
        <p:txBody>
          <a:bodyPr wrap="square" lIns="0" tIns="0" rIns="0" bIns="0" rtlCol="0" anchor="ctr"/>
          <a:lstStyle/>
          <a:p>
            <a:pPr marL="0" indent="0" algn="ctr">
              <a:buNone/>
            </a:pPr>
            <a:r>
              <a:rPr lang="en-US" sz="750" b="1" dirty="0">
                <a:solidFill>
                  <a:srgbClr val="316CEB"/>
                </a:solidFill>
              </a:rPr>
              <a:t>Notification</a:t>
            </a:r>
            <a:endParaRPr lang="en-US" sz="750" dirty="0"/>
          </a:p>
        </p:txBody>
      </p:sp>
      <p:sp>
        <p:nvSpPr>
          <p:cNvPr id="19" name="Shape 17"/>
          <p:cNvSpPr/>
          <p:nvPr/>
        </p:nvSpPr>
        <p:spPr>
          <a:xfrm>
            <a:off x="2212848" y="4800600"/>
            <a:ext cx="914400" cy="301752"/>
          </a:xfrm>
          <a:prstGeom prst="roundRect">
            <a:avLst>
              <a:gd name="adj" fmla="val 48485"/>
            </a:avLst>
          </a:prstGeom>
          <a:solidFill>
            <a:srgbClr val="EAF2FF"/>
          </a:solidFill>
          <a:ln w="12700">
            <a:solidFill>
              <a:srgbClr val="EAF2FF"/>
            </a:solidFill>
            <a:prstDash val="solid"/>
          </a:ln>
        </p:spPr>
        <p:txBody>
          <a:bodyPr/>
          <a:lstStyle/>
          <a:p>
            <a:endParaRPr lang="zh-CN" altLang="en-US"/>
          </a:p>
        </p:txBody>
      </p:sp>
      <p:sp>
        <p:nvSpPr>
          <p:cNvPr id="20" name="Text 18"/>
          <p:cNvSpPr/>
          <p:nvPr/>
        </p:nvSpPr>
        <p:spPr>
          <a:xfrm>
            <a:off x="2258568" y="4882896"/>
            <a:ext cx="822960" cy="137160"/>
          </a:xfrm>
          <a:prstGeom prst="rect">
            <a:avLst/>
          </a:prstGeom>
          <a:noFill/>
          <a:ln/>
        </p:spPr>
        <p:txBody>
          <a:bodyPr wrap="square" lIns="0" tIns="0" rIns="0" bIns="0" rtlCol="0" anchor="ctr"/>
          <a:lstStyle/>
          <a:p>
            <a:pPr marL="0" indent="0" algn="ctr">
              <a:buNone/>
            </a:pPr>
            <a:r>
              <a:rPr lang="en-US" sz="750" b="1" dirty="0">
                <a:solidFill>
                  <a:srgbClr val="7B61FF"/>
                </a:solidFill>
              </a:rPr>
              <a:t>Profile</a:t>
            </a:r>
            <a:endParaRPr lang="en-US" sz="750" dirty="0"/>
          </a:p>
        </p:txBody>
      </p:sp>
      <p:sp>
        <p:nvSpPr>
          <p:cNvPr id="21" name="Shape 19"/>
          <p:cNvSpPr/>
          <p:nvPr/>
        </p:nvSpPr>
        <p:spPr>
          <a:xfrm>
            <a:off x="3776472" y="1097280"/>
            <a:ext cx="3602736" cy="2276856"/>
          </a:xfrm>
          <a:prstGeom prst="roundRect">
            <a:avLst>
              <a:gd name="adj" fmla="val 3213"/>
            </a:avLst>
          </a:prstGeom>
          <a:solidFill>
            <a:srgbClr val="FFFFFF"/>
          </a:solidFill>
          <a:ln w="12700">
            <a:solidFill>
              <a:srgbClr val="D7E3F2"/>
            </a:solidFill>
            <a:prstDash val="solid"/>
          </a:ln>
        </p:spPr>
        <p:txBody>
          <a:bodyPr/>
          <a:lstStyle/>
          <a:p>
            <a:endParaRPr lang="zh-CN" altLang="en-US"/>
          </a:p>
        </p:txBody>
      </p:sp>
      <p:pic>
        <p:nvPicPr>
          <p:cNvPr id="22" name="Image 0" descr="/mnt/data/notification_center_screen.png"/>
          <p:cNvPicPr>
            <a:picLocks noChangeAspect="1"/>
          </p:cNvPicPr>
          <p:nvPr/>
        </p:nvPicPr>
        <p:blipFill>
          <a:blip r:embed="rId3"/>
          <a:stretch>
            <a:fillRect/>
          </a:stretch>
        </p:blipFill>
        <p:spPr>
          <a:xfrm>
            <a:off x="3814215" y="1115568"/>
            <a:ext cx="3527249" cy="2240280"/>
          </a:xfrm>
          <a:prstGeom prst="rect">
            <a:avLst/>
          </a:prstGeom>
        </p:spPr>
      </p:pic>
      <p:sp>
        <p:nvSpPr>
          <p:cNvPr id="23" name="Shape 20"/>
          <p:cNvSpPr/>
          <p:nvPr/>
        </p:nvSpPr>
        <p:spPr>
          <a:xfrm>
            <a:off x="7616952" y="1097280"/>
            <a:ext cx="3602736" cy="2276856"/>
          </a:xfrm>
          <a:prstGeom prst="roundRect">
            <a:avLst>
              <a:gd name="adj" fmla="val 3213"/>
            </a:avLst>
          </a:prstGeom>
          <a:solidFill>
            <a:srgbClr val="FFFFFF"/>
          </a:solidFill>
          <a:ln w="12700">
            <a:solidFill>
              <a:srgbClr val="D7E3F2"/>
            </a:solidFill>
            <a:prstDash val="solid"/>
          </a:ln>
        </p:spPr>
        <p:txBody>
          <a:bodyPr/>
          <a:lstStyle/>
          <a:p>
            <a:endParaRPr lang="zh-CN" altLang="en-US"/>
          </a:p>
        </p:txBody>
      </p:sp>
      <p:pic>
        <p:nvPicPr>
          <p:cNvPr id="24" name="Image 1" descr="/mnt/data/my_profile_screen.png"/>
          <p:cNvPicPr>
            <a:picLocks noChangeAspect="1"/>
          </p:cNvPicPr>
          <p:nvPr/>
        </p:nvPicPr>
        <p:blipFill>
          <a:blip r:embed="rId4"/>
          <a:stretch>
            <a:fillRect/>
          </a:stretch>
        </p:blipFill>
        <p:spPr>
          <a:xfrm>
            <a:off x="7654695" y="1115568"/>
            <a:ext cx="3527249" cy="2240280"/>
          </a:xfrm>
          <a:prstGeom prst="rect">
            <a:avLst/>
          </a:prstGeom>
        </p:spPr>
      </p:pic>
      <p:sp>
        <p:nvSpPr>
          <p:cNvPr id="25" name="Shape 21"/>
          <p:cNvSpPr/>
          <p:nvPr/>
        </p:nvSpPr>
        <p:spPr>
          <a:xfrm>
            <a:off x="3794760" y="3794760"/>
            <a:ext cx="7406640" cy="1417320"/>
          </a:xfrm>
          <a:prstGeom prst="roundRect">
            <a:avLst>
              <a:gd name="adj" fmla="val 5161"/>
            </a:avLst>
          </a:prstGeom>
          <a:solidFill>
            <a:srgbClr val="FFFFFF"/>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26" name="Text 22"/>
          <p:cNvSpPr/>
          <p:nvPr/>
        </p:nvSpPr>
        <p:spPr>
          <a:xfrm>
            <a:off x="4069080" y="4096512"/>
            <a:ext cx="1097280" cy="201168"/>
          </a:xfrm>
          <a:prstGeom prst="rect">
            <a:avLst/>
          </a:prstGeom>
          <a:noFill/>
          <a:ln/>
        </p:spPr>
        <p:txBody>
          <a:bodyPr wrap="square" lIns="0" tIns="0" rIns="0" bIns="0" rtlCol="0" anchor="ctr"/>
          <a:lstStyle/>
          <a:p>
            <a:pPr marL="0" indent="0">
              <a:buNone/>
            </a:pPr>
            <a:r>
              <a:rPr lang="en-US" sz="1200" b="1" dirty="0">
                <a:solidFill>
                  <a:srgbClr val="172238"/>
                </a:solidFill>
              </a:rPr>
              <a:t>Main idea</a:t>
            </a:r>
            <a:endParaRPr lang="en-US" sz="1200" dirty="0"/>
          </a:p>
        </p:txBody>
      </p:sp>
      <p:sp>
        <p:nvSpPr>
          <p:cNvPr id="27" name="Text 23"/>
          <p:cNvSpPr/>
          <p:nvPr/>
        </p:nvSpPr>
        <p:spPr>
          <a:xfrm>
            <a:off x="4069080" y="4462272"/>
            <a:ext cx="6629400" cy="411480"/>
          </a:xfrm>
          <a:prstGeom prst="rect">
            <a:avLst/>
          </a:prstGeom>
          <a:noFill/>
          <a:ln/>
        </p:spPr>
        <p:txBody>
          <a:bodyPr wrap="square" lIns="0" tIns="0" rIns="0" bIns="0" rtlCol="0" anchor="ctr">
            <a:normAutofit/>
          </a:bodyPr>
          <a:lstStyle/>
          <a:p>
            <a:pPr marL="0" indent="0">
              <a:buNone/>
            </a:pPr>
            <a:r>
              <a:rPr lang="en-US" sz="1300" dirty="0">
                <a:solidFill>
                  <a:srgbClr val="667085"/>
                </a:solidFill>
              </a:rPr>
              <a:t>My work gives HR a clear place to see what changed, check previous messages, and manage their account information.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3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3F8"/>
          </a:solidFill>
          <a:ln w="12700">
            <a:solidFill>
              <a:srgbClr val="EEF3F8"/>
            </a:solidFill>
            <a:prstDash val="solid"/>
          </a:ln>
        </p:spPr>
        <p:txBody>
          <a:bodyPr/>
          <a:lstStyle/>
          <a:p>
            <a:endParaRPr lang="zh-CN" altLang="en-US"/>
          </a:p>
        </p:txBody>
      </p:sp>
      <p:sp>
        <p:nvSpPr>
          <p:cNvPr id="3" name="Text 1"/>
          <p:cNvSpPr/>
          <p:nvPr/>
        </p:nvSpPr>
        <p:spPr>
          <a:xfrm>
            <a:off x="411480" y="292608"/>
            <a:ext cx="7680960" cy="310896"/>
          </a:xfrm>
          <a:prstGeom prst="rect">
            <a:avLst/>
          </a:prstGeom>
          <a:noFill/>
          <a:ln/>
        </p:spPr>
        <p:txBody>
          <a:bodyPr wrap="square" lIns="0" tIns="0" rIns="0" bIns="0" rtlCol="0" anchor="ctr"/>
          <a:lstStyle/>
          <a:p>
            <a:pPr marL="0" indent="0">
              <a:buNone/>
            </a:pPr>
            <a:r>
              <a:rPr lang="en-US" sz="2000" b="1" dirty="0">
                <a:solidFill>
                  <a:srgbClr val="172238"/>
                </a:solidFill>
                <a:latin typeface="Arial" pitchFamily="34" charset="0"/>
                <a:ea typeface="Arial" pitchFamily="34" charset="-122"/>
                <a:cs typeface="Arial" pitchFamily="34" charset="-120"/>
              </a:rPr>
              <a:t>Scope refinement</a:t>
            </a:r>
            <a:endParaRPr lang="en-US" sz="2000" dirty="0"/>
          </a:p>
        </p:txBody>
      </p:sp>
      <p:sp>
        <p:nvSpPr>
          <p:cNvPr id="4" name="Text 2"/>
          <p:cNvSpPr/>
          <p:nvPr/>
        </p:nvSpPr>
        <p:spPr>
          <a:xfrm>
            <a:off x="411480" y="685800"/>
            <a:ext cx="7772400" cy="256032"/>
          </a:xfrm>
          <a:prstGeom prst="rect">
            <a:avLst/>
          </a:prstGeom>
          <a:noFill/>
          <a:ln/>
        </p:spPr>
        <p:txBody>
          <a:bodyPr wrap="square" lIns="0" tIns="0" rIns="0" bIns="0" rtlCol="0" anchor="ctr"/>
          <a:lstStyle/>
          <a:p>
            <a:pPr marL="0" indent="0">
              <a:buNone/>
            </a:pPr>
            <a:endParaRPr lang="en-US" sz="850" dirty="0"/>
          </a:p>
        </p:txBody>
      </p:sp>
      <p:sp>
        <p:nvSpPr>
          <p:cNvPr id="5" name="Text 3"/>
          <p:cNvSpPr/>
          <p:nvPr/>
        </p:nvSpPr>
        <p:spPr>
          <a:xfrm>
            <a:off x="411480" y="6446520"/>
            <a:ext cx="3749040" cy="146304"/>
          </a:xfrm>
          <a:prstGeom prst="rect">
            <a:avLst/>
          </a:prstGeom>
          <a:noFill/>
          <a:ln/>
        </p:spPr>
        <p:txBody>
          <a:bodyPr wrap="square" lIns="0" tIns="0" rIns="0" bIns="0" rtlCol="0" anchor="ctr"/>
          <a:lstStyle/>
          <a:p>
            <a:pPr marL="0" indent="0">
              <a:buNone/>
            </a:pPr>
            <a:r>
              <a:rPr lang="en-US" sz="580" dirty="0">
                <a:solidFill>
                  <a:srgbClr val="8A98AD"/>
                </a:solidFill>
              </a:rPr>
              <a:t>JRS Individual Presentation | Zhao Yikai</a:t>
            </a:r>
            <a:endParaRPr lang="en-US" sz="580" dirty="0"/>
          </a:p>
        </p:txBody>
      </p:sp>
      <p:sp>
        <p:nvSpPr>
          <p:cNvPr id="6" name="Text 4"/>
          <p:cNvSpPr/>
          <p:nvPr/>
        </p:nvSpPr>
        <p:spPr>
          <a:xfrm>
            <a:off x="11722608" y="6446520"/>
            <a:ext cx="91440" cy="146304"/>
          </a:xfrm>
          <a:prstGeom prst="rect">
            <a:avLst/>
          </a:prstGeom>
          <a:noFill/>
          <a:ln/>
        </p:spPr>
        <p:txBody>
          <a:bodyPr wrap="square" lIns="0" tIns="0" rIns="0" bIns="0" rtlCol="0" anchor="ctr"/>
          <a:lstStyle/>
          <a:p>
            <a:pPr marL="0" indent="0" algn="r">
              <a:buNone/>
            </a:pPr>
            <a:r>
              <a:rPr lang="en-US" sz="550" dirty="0">
                <a:solidFill>
                  <a:srgbClr val="8A98AD"/>
                </a:solidFill>
              </a:rPr>
              <a:t>3</a:t>
            </a:r>
            <a:endParaRPr lang="en-US" sz="550" dirty="0"/>
          </a:p>
        </p:txBody>
      </p:sp>
      <p:sp>
        <p:nvSpPr>
          <p:cNvPr id="7" name="Shape 5"/>
          <p:cNvSpPr/>
          <p:nvPr/>
        </p:nvSpPr>
        <p:spPr>
          <a:xfrm>
            <a:off x="713232" y="1261872"/>
            <a:ext cx="4937760" cy="4206240"/>
          </a:xfrm>
          <a:prstGeom prst="roundRect">
            <a:avLst>
              <a:gd name="adj" fmla="val 1739"/>
            </a:avLst>
          </a:prstGeom>
          <a:solidFill>
            <a:srgbClr val="FFFFFF"/>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8" name="Shape 6"/>
          <p:cNvSpPr/>
          <p:nvPr/>
        </p:nvSpPr>
        <p:spPr>
          <a:xfrm>
            <a:off x="6492240" y="1261872"/>
            <a:ext cx="4937760" cy="4206240"/>
          </a:xfrm>
          <a:prstGeom prst="roundRect">
            <a:avLst>
              <a:gd name="adj" fmla="val 1739"/>
            </a:avLst>
          </a:prstGeom>
          <a:solidFill>
            <a:srgbClr val="FFFFFF"/>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9" name="Text 7"/>
          <p:cNvSpPr/>
          <p:nvPr/>
        </p:nvSpPr>
        <p:spPr>
          <a:xfrm>
            <a:off x="987552" y="1591056"/>
            <a:ext cx="2377440" cy="274320"/>
          </a:xfrm>
          <a:prstGeom prst="rect">
            <a:avLst/>
          </a:prstGeom>
          <a:noFill/>
          <a:ln/>
        </p:spPr>
        <p:txBody>
          <a:bodyPr wrap="square" lIns="0" tIns="0" rIns="0" bIns="0" rtlCol="0" anchor="ctr"/>
          <a:lstStyle/>
          <a:p>
            <a:pPr marL="0" indent="0">
              <a:buNone/>
            </a:pPr>
            <a:r>
              <a:rPr lang="en-US" sz="1600" b="1" dirty="0">
                <a:solidFill>
                  <a:srgbClr val="D84B55"/>
                </a:solidFill>
              </a:rPr>
              <a:t>Before refinement</a:t>
            </a:r>
            <a:endParaRPr lang="en-US" sz="1600" dirty="0"/>
          </a:p>
        </p:txBody>
      </p:sp>
      <p:sp>
        <p:nvSpPr>
          <p:cNvPr id="10" name="Text 8"/>
          <p:cNvSpPr/>
          <p:nvPr/>
        </p:nvSpPr>
        <p:spPr>
          <a:xfrm>
            <a:off x="987552" y="1993392"/>
            <a:ext cx="4297680" cy="640080"/>
          </a:xfrm>
          <a:prstGeom prst="rect">
            <a:avLst/>
          </a:prstGeom>
          <a:noFill/>
          <a:ln/>
        </p:spPr>
        <p:txBody>
          <a:bodyPr wrap="square" lIns="0" tIns="0" rIns="0" bIns="0" rtlCol="0" anchor="ctr">
            <a:normAutofit/>
          </a:bodyPr>
          <a:lstStyle/>
          <a:p>
            <a:pPr marL="0" indent="0">
              <a:buNone/>
            </a:pPr>
            <a:r>
              <a:rPr lang="en-US" sz="1300" dirty="0">
                <a:solidFill>
                  <a:srgbClr val="667085"/>
                </a:solidFill>
              </a:rPr>
              <a:t>The first version repeated work that belonged to Applications or Interviews, so the boundary was unclear.</a:t>
            </a:r>
            <a:endParaRPr lang="en-US" sz="1300" dirty="0"/>
          </a:p>
        </p:txBody>
      </p:sp>
      <p:sp>
        <p:nvSpPr>
          <p:cNvPr id="11" name="Shape 9"/>
          <p:cNvSpPr/>
          <p:nvPr/>
        </p:nvSpPr>
        <p:spPr>
          <a:xfrm>
            <a:off x="987552" y="2880360"/>
            <a:ext cx="4023360" cy="0"/>
          </a:xfrm>
          <a:prstGeom prst="line">
            <a:avLst/>
          </a:prstGeom>
          <a:noFill/>
          <a:ln w="15240">
            <a:solidFill>
              <a:srgbClr val="F3C0C5"/>
            </a:solidFill>
            <a:prstDash val="solid"/>
          </a:ln>
        </p:spPr>
        <p:txBody>
          <a:bodyPr/>
          <a:lstStyle/>
          <a:p>
            <a:endParaRPr lang="zh-CN" altLang="en-US"/>
          </a:p>
        </p:txBody>
      </p:sp>
      <p:sp>
        <p:nvSpPr>
          <p:cNvPr id="12" name="Text 10"/>
          <p:cNvSpPr/>
          <p:nvPr/>
        </p:nvSpPr>
        <p:spPr>
          <a:xfrm>
            <a:off x="987552" y="3127248"/>
            <a:ext cx="2743200" cy="201168"/>
          </a:xfrm>
          <a:prstGeom prst="rect">
            <a:avLst/>
          </a:prstGeom>
          <a:noFill/>
          <a:ln/>
        </p:spPr>
        <p:txBody>
          <a:bodyPr wrap="square" lIns="0" tIns="0" rIns="0" bIns="0" rtlCol="0" anchor="ctr"/>
          <a:lstStyle/>
          <a:p>
            <a:pPr marL="0" indent="0">
              <a:buNone/>
            </a:pPr>
            <a:r>
              <a:rPr lang="en-US" sz="1000" b="1" dirty="0">
                <a:solidFill>
                  <a:srgbClr val="D84B55"/>
                </a:solidFill>
              </a:rPr>
              <a:t>Removed from my module</a:t>
            </a:r>
            <a:endParaRPr lang="en-US" sz="1000" dirty="0"/>
          </a:p>
        </p:txBody>
      </p:sp>
      <p:sp>
        <p:nvSpPr>
          <p:cNvPr id="13" name="Text 11"/>
          <p:cNvSpPr/>
          <p:nvPr/>
        </p:nvSpPr>
        <p:spPr>
          <a:xfrm>
            <a:off x="987552" y="3493008"/>
            <a:ext cx="4206240" cy="777240"/>
          </a:xfrm>
          <a:prstGeom prst="rect">
            <a:avLst/>
          </a:prstGeom>
          <a:noFill/>
          <a:ln/>
        </p:spPr>
        <p:txBody>
          <a:bodyPr wrap="square" lIns="0" tIns="0" rIns="0" bIns="0" rtlCol="0" anchor="ctr">
            <a:normAutofit/>
          </a:bodyPr>
          <a:lstStyle/>
          <a:p>
            <a:pPr marL="0" indent="0">
              <a:buNone/>
            </a:pPr>
            <a:r>
              <a:rPr lang="en-US" sz="1300" dirty="0">
                <a:solidFill>
                  <a:srgbClr val="172238"/>
                </a:solidFill>
              </a:rPr>
              <a:t>Candidate decisions, interview scheduling, reminders, offer approval, and contract creation.</a:t>
            </a:r>
            <a:endParaRPr lang="en-US" sz="1300" dirty="0"/>
          </a:p>
        </p:txBody>
      </p:sp>
      <p:sp>
        <p:nvSpPr>
          <p:cNvPr id="14" name="Text 12"/>
          <p:cNvSpPr/>
          <p:nvPr/>
        </p:nvSpPr>
        <p:spPr>
          <a:xfrm>
            <a:off x="6766560" y="1591056"/>
            <a:ext cx="2377440" cy="274320"/>
          </a:xfrm>
          <a:prstGeom prst="rect">
            <a:avLst/>
          </a:prstGeom>
          <a:noFill/>
          <a:ln/>
        </p:spPr>
        <p:txBody>
          <a:bodyPr wrap="square" lIns="0" tIns="0" rIns="0" bIns="0" rtlCol="0" anchor="ctr"/>
          <a:lstStyle/>
          <a:p>
            <a:pPr marL="0" indent="0">
              <a:buNone/>
            </a:pPr>
            <a:r>
              <a:rPr lang="en-US" sz="1600" b="1" dirty="0">
                <a:solidFill>
                  <a:srgbClr val="316CEB"/>
                </a:solidFill>
              </a:rPr>
              <a:t>After refinement</a:t>
            </a:r>
            <a:endParaRPr lang="en-US" sz="1600" dirty="0"/>
          </a:p>
        </p:txBody>
      </p:sp>
      <p:sp>
        <p:nvSpPr>
          <p:cNvPr id="15" name="Text 13"/>
          <p:cNvSpPr/>
          <p:nvPr/>
        </p:nvSpPr>
        <p:spPr>
          <a:xfrm>
            <a:off x="6766560" y="1993392"/>
            <a:ext cx="4297680" cy="640080"/>
          </a:xfrm>
          <a:prstGeom prst="rect">
            <a:avLst/>
          </a:prstGeom>
          <a:noFill/>
          <a:ln/>
        </p:spPr>
        <p:txBody>
          <a:bodyPr wrap="square" lIns="0" tIns="0" rIns="0" bIns="0" rtlCol="0" anchor="ctr">
            <a:normAutofit/>
          </a:bodyPr>
          <a:lstStyle/>
          <a:p>
            <a:pPr marL="0" indent="0">
              <a:buNone/>
            </a:pPr>
            <a:r>
              <a:rPr lang="en-US" sz="1300" dirty="0">
                <a:solidFill>
                  <a:srgbClr val="667085"/>
                </a:solidFill>
              </a:rPr>
              <a:t>The final version keeps a smaller purpose, which is easier to explain and easier to integrate with the team work.</a:t>
            </a:r>
            <a:endParaRPr lang="en-US" sz="1300" dirty="0"/>
          </a:p>
        </p:txBody>
      </p:sp>
      <p:sp>
        <p:nvSpPr>
          <p:cNvPr id="16" name="Shape 14"/>
          <p:cNvSpPr/>
          <p:nvPr/>
        </p:nvSpPr>
        <p:spPr>
          <a:xfrm>
            <a:off x="6766560" y="2880360"/>
            <a:ext cx="4023360" cy="0"/>
          </a:xfrm>
          <a:prstGeom prst="line">
            <a:avLst/>
          </a:prstGeom>
          <a:noFill/>
          <a:ln w="15240">
            <a:solidFill>
              <a:srgbClr val="C8DAFA"/>
            </a:solidFill>
            <a:prstDash val="solid"/>
          </a:ln>
        </p:spPr>
        <p:txBody>
          <a:bodyPr/>
          <a:lstStyle/>
          <a:p>
            <a:endParaRPr lang="zh-CN" altLang="en-US"/>
          </a:p>
        </p:txBody>
      </p:sp>
      <p:sp>
        <p:nvSpPr>
          <p:cNvPr id="17" name="Text 15"/>
          <p:cNvSpPr/>
          <p:nvPr/>
        </p:nvSpPr>
        <p:spPr>
          <a:xfrm>
            <a:off x="6766560" y="3127248"/>
            <a:ext cx="2743200" cy="201168"/>
          </a:xfrm>
          <a:prstGeom prst="rect">
            <a:avLst/>
          </a:prstGeom>
          <a:noFill/>
          <a:ln/>
        </p:spPr>
        <p:txBody>
          <a:bodyPr wrap="square" lIns="0" tIns="0" rIns="0" bIns="0" rtlCol="0" anchor="ctr"/>
          <a:lstStyle/>
          <a:p>
            <a:pPr marL="0" indent="0">
              <a:buNone/>
            </a:pPr>
            <a:r>
              <a:rPr lang="en-US" sz="1000" b="1" dirty="0">
                <a:solidFill>
                  <a:srgbClr val="316CEB"/>
                </a:solidFill>
              </a:rPr>
              <a:t>Kept in my module</a:t>
            </a:r>
            <a:endParaRPr lang="en-US" sz="1000" dirty="0"/>
          </a:p>
        </p:txBody>
      </p:sp>
      <p:sp>
        <p:nvSpPr>
          <p:cNvPr id="18" name="Text 16"/>
          <p:cNvSpPr/>
          <p:nvPr/>
        </p:nvSpPr>
        <p:spPr>
          <a:xfrm>
            <a:off x="6766560" y="3493008"/>
            <a:ext cx="4206240" cy="777240"/>
          </a:xfrm>
          <a:prstGeom prst="rect">
            <a:avLst/>
          </a:prstGeom>
          <a:noFill/>
          <a:ln/>
        </p:spPr>
        <p:txBody>
          <a:bodyPr wrap="square" lIns="0" tIns="0" rIns="0" bIns="0" rtlCol="0" anchor="ctr">
            <a:normAutofit/>
          </a:bodyPr>
          <a:lstStyle/>
          <a:p>
            <a:pPr marL="0" indent="0">
              <a:buNone/>
            </a:pPr>
            <a:r>
              <a:rPr lang="en-US" sz="1300" dirty="0">
                <a:solidFill>
                  <a:srgbClr val="172238"/>
                </a:solidFill>
              </a:rPr>
              <a:t>System updates for HR, standard email wording, sent-message history, and account pages.</a:t>
            </a:r>
            <a:endParaRPr lang="en-US" sz="1300" dirty="0"/>
          </a:p>
        </p:txBody>
      </p:sp>
      <p:sp>
        <p:nvSpPr>
          <p:cNvPr id="19" name="Text 17"/>
          <p:cNvSpPr/>
          <p:nvPr/>
        </p:nvSpPr>
        <p:spPr>
          <a:xfrm>
            <a:off x="5815584" y="2880360"/>
            <a:ext cx="365760" cy="365760"/>
          </a:xfrm>
          <a:prstGeom prst="rect">
            <a:avLst/>
          </a:prstGeom>
          <a:noFill/>
          <a:ln/>
        </p:spPr>
        <p:txBody>
          <a:bodyPr wrap="square" lIns="0" tIns="0" rIns="0" bIns="0" rtlCol="0" anchor="ctr"/>
          <a:lstStyle/>
          <a:p>
            <a:pPr marL="0" indent="0" algn="ctr">
              <a:buNone/>
            </a:pPr>
            <a:r>
              <a:rPr lang="en-US" sz="2400" b="1" dirty="0">
                <a:solidFill>
                  <a:srgbClr val="8FA7D9"/>
                </a:solidFill>
              </a:rPr>
              <a: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3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3F8"/>
          </a:solidFill>
          <a:ln w="12700">
            <a:solidFill>
              <a:srgbClr val="EEF3F8"/>
            </a:solidFill>
            <a:prstDash val="solid"/>
          </a:ln>
        </p:spPr>
        <p:txBody>
          <a:bodyPr/>
          <a:lstStyle/>
          <a:p>
            <a:endParaRPr lang="zh-CN" altLang="en-US"/>
          </a:p>
        </p:txBody>
      </p:sp>
      <p:sp>
        <p:nvSpPr>
          <p:cNvPr id="3" name="Text 1"/>
          <p:cNvSpPr/>
          <p:nvPr/>
        </p:nvSpPr>
        <p:spPr>
          <a:xfrm>
            <a:off x="411480" y="292608"/>
            <a:ext cx="7680960" cy="310896"/>
          </a:xfrm>
          <a:prstGeom prst="rect">
            <a:avLst/>
          </a:prstGeom>
          <a:noFill/>
          <a:ln/>
        </p:spPr>
        <p:txBody>
          <a:bodyPr wrap="square" lIns="0" tIns="0" rIns="0" bIns="0" rtlCol="0" anchor="ctr"/>
          <a:lstStyle/>
          <a:p>
            <a:pPr marL="0" indent="0">
              <a:buNone/>
            </a:pPr>
            <a:r>
              <a:rPr lang="en-US" sz="2000" b="1" dirty="0">
                <a:solidFill>
                  <a:srgbClr val="172238"/>
                </a:solidFill>
                <a:latin typeface="Arial" pitchFamily="34" charset="0"/>
                <a:ea typeface="Arial" pitchFamily="34" charset="-122"/>
                <a:cs typeface="Arial" pitchFamily="34" charset="-120"/>
              </a:rPr>
              <a:t>Final connected flow</a:t>
            </a:r>
            <a:endParaRPr lang="en-US" sz="2000" dirty="0"/>
          </a:p>
        </p:txBody>
      </p:sp>
      <p:sp>
        <p:nvSpPr>
          <p:cNvPr id="4" name="Text 2"/>
          <p:cNvSpPr/>
          <p:nvPr/>
        </p:nvSpPr>
        <p:spPr>
          <a:xfrm>
            <a:off x="411480" y="685800"/>
            <a:ext cx="7772400" cy="256032"/>
          </a:xfrm>
          <a:prstGeom prst="rect">
            <a:avLst/>
          </a:prstGeom>
          <a:noFill/>
          <a:ln/>
        </p:spPr>
        <p:txBody>
          <a:bodyPr wrap="square" lIns="0" tIns="0" rIns="0" bIns="0" rtlCol="0" anchor="ctr"/>
          <a:lstStyle/>
          <a:p>
            <a:pPr marL="0" indent="0">
              <a:buNone/>
            </a:pPr>
            <a:endParaRPr lang="en-US" sz="850" dirty="0"/>
          </a:p>
        </p:txBody>
      </p:sp>
      <p:sp>
        <p:nvSpPr>
          <p:cNvPr id="5" name="Text 3"/>
          <p:cNvSpPr/>
          <p:nvPr/>
        </p:nvSpPr>
        <p:spPr>
          <a:xfrm>
            <a:off x="411480" y="6446520"/>
            <a:ext cx="3749040" cy="146304"/>
          </a:xfrm>
          <a:prstGeom prst="rect">
            <a:avLst/>
          </a:prstGeom>
          <a:noFill/>
          <a:ln/>
        </p:spPr>
        <p:txBody>
          <a:bodyPr wrap="square" lIns="0" tIns="0" rIns="0" bIns="0" rtlCol="0" anchor="ctr"/>
          <a:lstStyle/>
          <a:p>
            <a:pPr marL="0" indent="0">
              <a:buNone/>
            </a:pPr>
            <a:r>
              <a:rPr lang="en-US" sz="580" dirty="0">
                <a:solidFill>
                  <a:srgbClr val="8A98AD"/>
                </a:solidFill>
              </a:rPr>
              <a:t>JRS Individual Presentation | Zhao Yikai</a:t>
            </a:r>
            <a:endParaRPr lang="en-US" sz="580" dirty="0"/>
          </a:p>
        </p:txBody>
      </p:sp>
      <p:sp>
        <p:nvSpPr>
          <p:cNvPr id="6" name="Text 4"/>
          <p:cNvSpPr/>
          <p:nvPr/>
        </p:nvSpPr>
        <p:spPr>
          <a:xfrm>
            <a:off x="11722608" y="6446520"/>
            <a:ext cx="91440" cy="146304"/>
          </a:xfrm>
          <a:prstGeom prst="rect">
            <a:avLst/>
          </a:prstGeom>
          <a:noFill/>
          <a:ln/>
        </p:spPr>
        <p:txBody>
          <a:bodyPr wrap="square" lIns="0" tIns="0" rIns="0" bIns="0" rtlCol="0" anchor="ctr"/>
          <a:lstStyle/>
          <a:p>
            <a:pPr marL="0" indent="0" algn="r">
              <a:buNone/>
            </a:pPr>
            <a:r>
              <a:rPr lang="en-US" sz="550" dirty="0">
                <a:solidFill>
                  <a:srgbClr val="8A98AD"/>
                </a:solidFill>
              </a:rPr>
              <a:t>4</a:t>
            </a:r>
            <a:endParaRPr lang="en-US" sz="550" dirty="0"/>
          </a:p>
        </p:txBody>
      </p:sp>
      <p:sp>
        <p:nvSpPr>
          <p:cNvPr id="7" name="Shape 5"/>
          <p:cNvSpPr/>
          <p:nvPr/>
        </p:nvSpPr>
        <p:spPr>
          <a:xfrm>
            <a:off x="731520" y="1645920"/>
            <a:ext cx="2331720" cy="1170432"/>
          </a:xfrm>
          <a:prstGeom prst="roundRect">
            <a:avLst>
              <a:gd name="adj" fmla="val 6250"/>
            </a:avLst>
          </a:prstGeom>
          <a:solidFill>
            <a:srgbClr val="F7F9FC"/>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8" name="Text 6"/>
          <p:cNvSpPr/>
          <p:nvPr/>
        </p:nvSpPr>
        <p:spPr>
          <a:xfrm>
            <a:off x="896112" y="1901952"/>
            <a:ext cx="2011680" cy="201168"/>
          </a:xfrm>
          <a:prstGeom prst="rect">
            <a:avLst/>
          </a:prstGeom>
          <a:noFill/>
          <a:ln/>
        </p:spPr>
        <p:txBody>
          <a:bodyPr wrap="square" lIns="0" tIns="0" rIns="0" bIns="0" rtlCol="0" anchor="ctr"/>
          <a:lstStyle/>
          <a:p>
            <a:pPr marL="0" indent="0" algn="ctr">
              <a:buNone/>
            </a:pPr>
            <a:r>
              <a:rPr lang="en-US" sz="1200" b="1" dirty="0">
                <a:solidFill>
                  <a:srgbClr val="667085"/>
                </a:solidFill>
              </a:rPr>
              <a:t>Applications event</a:t>
            </a:r>
            <a:endParaRPr lang="en-US" sz="1200" dirty="0"/>
          </a:p>
        </p:txBody>
      </p:sp>
      <p:sp>
        <p:nvSpPr>
          <p:cNvPr id="9" name="Text 7"/>
          <p:cNvSpPr/>
          <p:nvPr/>
        </p:nvSpPr>
        <p:spPr>
          <a:xfrm>
            <a:off x="932688" y="2240280"/>
            <a:ext cx="1920240" cy="256032"/>
          </a:xfrm>
          <a:prstGeom prst="rect">
            <a:avLst/>
          </a:prstGeom>
          <a:noFill/>
          <a:ln/>
        </p:spPr>
        <p:txBody>
          <a:bodyPr wrap="square" lIns="0" tIns="0" rIns="0" bIns="0" rtlCol="0" anchor="ctr">
            <a:normAutofit/>
          </a:bodyPr>
          <a:lstStyle/>
          <a:p>
            <a:pPr marL="0" indent="0" algn="ctr">
              <a:buNone/>
            </a:pPr>
            <a:r>
              <a:rPr lang="en-US" sz="850" dirty="0">
                <a:solidFill>
                  <a:srgbClr val="667085"/>
                </a:solidFill>
              </a:rPr>
              <a:t>New application or status update</a:t>
            </a:r>
            <a:endParaRPr lang="en-US" sz="850" dirty="0"/>
          </a:p>
        </p:txBody>
      </p:sp>
      <p:sp>
        <p:nvSpPr>
          <p:cNvPr id="10" name="Shape 8"/>
          <p:cNvSpPr/>
          <p:nvPr/>
        </p:nvSpPr>
        <p:spPr>
          <a:xfrm>
            <a:off x="3063240" y="2231136"/>
            <a:ext cx="457200" cy="0"/>
          </a:xfrm>
          <a:prstGeom prst="line">
            <a:avLst/>
          </a:prstGeom>
          <a:noFill/>
          <a:ln w="21590">
            <a:solidFill>
              <a:srgbClr val="7EA3E6"/>
            </a:solidFill>
            <a:prstDash val="solid"/>
            <a:headEnd type="none"/>
            <a:tailEnd type="triangle"/>
          </a:ln>
        </p:spPr>
        <p:txBody>
          <a:bodyPr/>
          <a:lstStyle/>
          <a:p>
            <a:endParaRPr lang="zh-CN" altLang="en-US"/>
          </a:p>
        </p:txBody>
      </p:sp>
      <p:sp>
        <p:nvSpPr>
          <p:cNvPr id="11" name="Shape 9"/>
          <p:cNvSpPr/>
          <p:nvPr/>
        </p:nvSpPr>
        <p:spPr>
          <a:xfrm>
            <a:off x="3520440" y="1645920"/>
            <a:ext cx="2331720" cy="1170432"/>
          </a:xfrm>
          <a:prstGeom prst="roundRect">
            <a:avLst>
              <a:gd name="adj" fmla="val 6250"/>
            </a:avLst>
          </a:prstGeom>
          <a:solidFill>
            <a:srgbClr val="FFFFFF"/>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12" name="Text 10"/>
          <p:cNvSpPr/>
          <p:nvPr/>
        </p:nvSpPr>
        <p:spPr>
          <a:xfrm>
            <a:off x="3685032" y="1901952"/>
            <a:ext cx="2011680" cy="201168"/>
          </a:xfrm>
          <a:prstGeom prst="rect">
            <a:avLst/>
          </a:prstGeom>
          <a:noFill/>
          <a:ln/>
        </p:spPr>
        <p:txBody>
          <a:bodyPr wrap="square" lIns="0" tIns="0" rIns="0" bIns="0" rtlCol="0" anchor="ctr"/>
          <a:lstStyle/>
          <a:p>
            <a:pPr marL="0" indent="0" algn="ctr">
              <a:buNone/>
            </a:pPr>
            <a:r>
              <a:rPr lang="en-US" sz="1200" b="1" dirty="0">
                <a:solidFill>
                  <a:srgbClr val="316CEB"/>
                </a:solidFill>
              </a:rPr>
              <a:t>Notification Center</a:t>
            </a:r>
            <a:endParaRPr lang="en-US" sz="1200" dirty="0"/>
          </a:p>
        </p:txBody>
      </p:sp>
      <p:sp>
        <p:nvSpPr>
          <p:cNvPr id="13" name="Text 11"/>
          <p:cNvSpPr/>
          <p:nvPr/>
        </p:nvSpPr>
        <p:spPr>
          <a:xfrm>
            <a:off x="3721608" y="2240280"/>
            <a:ext cx="1920240" cy="256032"/>
          </a:xfrm>
          <a:prstGeom prst="rect">
            <a:avLst/>
          </a:prstGeom>
          <a:noFill/>
          <a:ln/>
        </p:spPr>
        <p:txBody>
          <a:bodyPr wrap="square" lIns="0" tIns="0" rIns="0" bIns="0" rtlCol="0" anchor="ctr">
            <a:normAutofit/>
          </a:bodyPr>
          <a:lstStyle/>
          <a:p>
            <a:pPr marL="0" indent="0" algn="ctr">
              <a:buNone/>
            </a:pPr>
            <a:r>
              <a:rPr lang="en-US" sz="850" dirty="0">
                <a:solidFill>
                  <a:srgbClr val="667085"/>
                </a:solidFill>
              </a:rPr>
              <a:t>HR sees what happened</a:t>
            </a:r>
            <a:endParaRPr lang="en-US" sz="850" dirty="0"/>
          </a:p>
        </p:txBody>
      </p:sp>
      <p:sp>
        <p:nvSpPr>
          <p:cNvPr id="14" name="Shape 12"/>
          <p:cNvSpPr/>
          <p:nvPr/>
        </p:nvSpPr>
        <p:spPr>
          <a:xfrm>
            <a:off x="5852160" y="2231136"/>
            <a:ext cx="457200" cy="0"/>
          </a:xfrm>
          <a:prstGeom prst="line">
            <a:avLst/>
          </a:prstGeom>
          <a:noFill/>
          <a:ln w="21590">
            <a:solidFill>
              <a:srgbClr val="7EA3E6"/>
            </a:solidFill>
            <a:prstDash val="solid"/>
            <a:headEnd type="none"/>
            <a:tailEnd type="triangle"/>
          </a:ln>
        </p:spPr>
        <p:txBody>
          <a:bodyPr/>
          <a:lstStyle/>
          <a:p>
            <a:endParaRPr lang="zh-CN" altLang="en-US"/>
          </a:p>
        </p:txBody>
      </p:sp>
      <p:sp>
        <p:nvSpPr>
          <p:cNvPr id="15" name="Shape 13"/>
          <p:cNvSpPr/>
          <p:nvPr/>
        </p:nvSpPr>
        <p:spPr>
          <a:xfrm>
            <a:off x="6309360" y="1645920"/>
            <a:ext cx="2331720" cy="1170432"/>
          </a:xfrm>
          <a:prstGeom prst="roundRect">
            <a:avLst>
              <a:gd name="adj" fmla="val 6250"/>
            </a:avLst>
          </a:prstGeom>
          <a:solidFill>
            <a:srgbClr val="FFFFFF"/>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16" name="Text 14"/>
          <p:cNvSpPr/>
          <p:nvPr/>
        </p:nvSpPr>
        <p:spPr>
          <a:xfrm>
            <a:off x="6473952" y="1901952"/>
            <a:ext cx="2011680" cy="201168"/>
          </a:xfrm>
          <a:prstGeom prst="rect">
            <a:avLst/>
          </a:prstGeom>
          <a:noFill/>
          <a:ln/>
        </p:spPr>
        <p:txBody>
          <a:bodyPr wrap="square" lIns="0" tIns="0" rIns="0" bIns="0" rtlCol="0" anchor="ctr"/>
          <a:lstStyle/>
          <a:p>
            <a:pPr marL="0" indent="0" algn="ctr">
              <a:buNone/>
            </a:pPr>
            <a:r>
              <a:rPr lang="en-US" sz="1200" b="1" dirty="0">
                <a:solidFill>
                  <a:srgbClr val="316CEB"/>
                </a:solidFill>
              </a:rPr>
              <a:t>Email support</a:t>
            </a:r>
            <a:endParaRPr lang="en-US" sz="1200" dirty="0"/>
          </a:p>
        </p:txBody>
      </p:sp>
      <p:sp>
        <p:nvSpPr>
          <p:cNvPr id="17" name="Text 15"/>
          <p:cNvSpPr/>
          <p:nvPr/>
        </p:nvSpPr>
        <p:spPr>
          <a:xfrm>
            <a:off x="6510528" y="2240280"/>
            <a:ext cx="1920240" cy="256032"/>
          </a:xfrm>
          <a:prstGeom prst="rect">
            <a:avLst/>
          </a:prstGeom>
          <a:noFill/>
          <a:ln/>
        </p:spPr>
        <p:txBody>
          <a:bodyPr wrap="square" lIns="0" tIns="0" rIns="0" bIns="0" rtlCol="0" anchor="ctr">
            <a:normAutofit lnSpcReduction="10000"/>
          </a:bodyPr>
          <a:lstStyle/>
          <a:p>
            <a:pPr marL="0" indent="0" algn="ctr">
              <a:buNone/>
            </a:pPr>
            <a:r>
              <a:rPr lang="en-US" sz="850" dirty="0">
                <a:solidFill>
                  <a:srgbClr val="667085"/>
                </a:solidFill>
              </a:rPr>
              <a:t>Saved wording helps candidate message</a:t>
            </a:r>
            <a:endParaRPr lang="en-US" sz="850" dirty="0"/>
          </a:p>
        </p:txBody>
      </p:sp>
      <p:sp>
        <p:nvSpPr>
          <p:cNvPr id="18" name="Shape 16"/>
          <p:cNvSpPr/>
          <p:nvPr/>
        </p:nvSpPr>
        <p:spPr>
          <a:xfrm>
            <a:off x="8641080" y="2231136"/>
            <a:ext cx="457200" cy="0"/>
          </a:xfrm>
          <a:prstGeom prst="line">
            <a:avLst/>
          </a:prstGeom>
          <a:noFill/>
          <a:ln w="21590">
            <a:solidFill>
              <a:srgbClr val="7EA3E6"/>
            </a:solidFill>
            <a:prstDash val="solid"/>
            <a:headEnd type="none"/>
            <a:tailEnd type="triangle"/>
          </a:ln>
        </p:spPr>
        <p:txBody>
          <a:bodyPr/>
          <a:lstStyle/>
          <a:p>
            <a:endParaRPr lang="zh-CN" altLang="en-US"/>
          </a:p>
        </p:txBody>
      </p:sp>
      <p:sp>
        <p:nvSpPr>
          <p:cNvPr id="19" name="Shape 17"/>
          <p:cNvSpPr/>
          <p:nvPr/>
        </p:nvSpPr>
        <p:spPr>
          <a:xfrm>
            <a:off x="9098280" y="1645920"/>
            <a:ext cx="2331720" cy="1170432"/>
          </a:xfrm>
          <a:prstGeom prst="roundRect">
            <a:avLst>
              <a:gd name="adj" fmla="val 6250"/>
            </a:avLst>
          </a:prstGeom>
          <a:solidFill>
            <a:srgbClr val="FFFFFF"/>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20" name="Text 18"/>
          <p:cNvSpPr/>
          <p:nvPr/>
        </p:nvSpPr>
        <p:spPr>
          <a:xfrm>
            <a:off x="9262872" y="1901952"/>
            <a:ext cx="2011680" cy="201168"/>
          </a:xfrm>
          <a:prstGeom prst="rect">
            <a:avLst/>
          </a:prstGeom>
          <a:noFill/>
          <a:ln/>
        </p:spPr>
        <p:txBody>
          <a:bodyPr wrap="square" lIns="0" tIns="0" rIns="0" bIns="0" rtlCol="0" anchor="ctr"/>
          <a:lstStyle/>
          <a:p>
            <a:pPr marL="0" indent="0" algn="ctr">
              <a:buNone/>
            </a:pPr>
            <a:r>
              <a:rPr lang="en-US" sz="1200" b="1" dirty="0">
                <a:solidFill>
                  <a:srgbClr val="316CEB"/>
                </a:solidFill>
              </a:rPr>
              <a:t>Notification Log</a:t>
            </a:r>
            <a:endParaRPr lang="en-US" sz="1200" dirty="0"/>
          </a:p>
        </p:txBody>
      </p:sp>
      <p:sp>
        <p:nvSpPr>
          <p:cNvPr id="21" name="Text 19"/>
          <p:cNvSpPr/>
          <p:nvPr/>
        </p:nvSpPr>
        <p:spPr>
          <a:xfrm>
            <a:off x="9299448" y="2240280"/>
            <a:ext cx="1920240" cy="256032"/>
          </a:xfrm>
          <a:prstGeom prst="rect">
            <a:avLst/>
          </a:prstGeom>
          <a:noFill/>
          <a:ln/>
        </p:spPr>
        <p:txBody>
          <a:bodyPr wrap="square" lIns="0" tIns="0" rIns="0" bIns="0" rtlCol="0" anchor="ctr">
            <a:normAutofit/>
          </a:bodyPr>
          <a:lstStyle/>
          <a:p>
            <a:pPr marL="0" indent="0" algn="ctr">
              <a:buNone/>
            </a:pPr>
            <a:r>
              <a:rPr lang="en-US" sz="850" dirty="0">
                <a:solidFill>
                  <a:srgbClr val="667085"/>
                </a:solidFill>
              </a:rPr>
              <a:t>Record can be checked later</a:t>
            </a:r>
            <a:endParaRPr lang="en-US" sz="850" dirty="0"/>
          </a:p>
        </p:txBody>
      </p:sp>
      <p:sp>
        <p:nvSpPr>
          <p:cNvPr id="22" name="Shape 20"/>
          <p:cNvSpPr/>
          <p:nvPr/>
        </p:nvSpPr>
        <p:spPr>
          <a:xfrm>
            <a:off x="914400" y="3886200"/>
            <a:ext cx="10332720" cy="1280160"/>
          </a:xfrm>
          <a:prstGeom prst="roundRect">
            <a:avLst>
              <a:gd name="adj" fmla="val 5714"/>
            </a:avLst>
          </a:prstGeom>
          <a:solidFill>
            <a:srgbClr val="FFFFFF"/>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23" name="Text 21"/>
          <p:cNvSpPr/>
          <p:nvPr/>
        </p:nvSpPr>
        <p:spPr>
          <a:xfrm>
            <a:off x="1234440" y="4224528"/>
            <a:ext cx="1097280" cy="228600"/>
          </a:xfrm>
          <a:prstGeom prst="rect">
            <a:avLst/>
          </a:prstGeom>
          <a:noFill/>
          <a:ln/>
        </p:spPr>
        <p:txBody>
          <a:bodyPr wrap="square" lIns="0" tIns="0" rIns="0" bIns="0" rtlCol="0" anchor="ctr"/>
          <a:lstStyle/>
          <a:p>
            <a:pPr marL="0" indent="0">
              <a:buNone/>
            </a:pPr>
            <a:r>
              <a:rPr lang="en-US" sz="1400" b="1" dirty="0">
                <a:solidFill>
                  <a:srgbClr val="172238"/>
                </a:solidFill>
              </a:rPr>
              <a:t>Key rule</a:t>
            </a:r>
            <a:endParaRPr lang="en-US" sz="1400" dirty="0"/>
          </a:p>
        </p:txBody>
      </p:sp>
      <p:sp>
        <p:nvSpPr>
          <p:cNvPr id="24" name="Text 22"/>
          <p:cNvSpPr/>
          <p:nvPr/>
        </p:nvSpPr>
        <p:spPr>
          <a:xfrm>
            <a:off x="2331720" y="4206240"/>
            <a:ext cx="8138160" cy="411480"/>
          </a:xfrm>
          <a:prstGeom prst="rect">
            <a:avLst/>
          </a:prstGeom>
          <a:noFill/>
          <a:ln/>
        </p:spPr>
        <p:txBody>
          <a:bodyPr wrap="square" lIns="0" tIns="0" rIns="0" bIns="0" rtlCol="0" anchor="ctr">
            <a:normAutofit lnSpcReduction="10000"/>
          </a:bodyPr>
          <a:lstStyle/>
          <a:p>
            <a:pPr marL="0" indent="0">
              <a:buNone/>
            </a:pPr>
            <a:r>
              <a:rPr lang="en-US" sz="1400" dirty="0">
                <a:solidFill>
                  <a:srgbClr val="667085"/>
                </a:solidFill>
              </a:rPr>
              <a:t>My module does not make recruitment decisions. It informs HR, supports candidate messages, and stores the final sending record.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3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3F8"/>
          </a:solidFill>
          <a:ln w="12700">
            <a:solidFill>
              <a:srgbClr val="EEF3F8"/>
            </a:solidFill>
            <a:prstDash val="solid"/>
          </a:ln>
        </p:spPr>
        <p:txBody>
          <a:bodyPr/>
          <a:lstStyle/>
          <a:p>
            <a:endParaRPr lang="zh-CN" altLang="en-US"/>
          </a:p>
        </p:txBody>
      </p:sp>
      <p:sp>
        <p:nvSpPr>
          <p:cNvPr id="3" name="Text 1"/>
          <p:cNvSpPr/>
          <p:nvPr/>
        </p:nvSpPr>
        <p:spPr>
          <a:xfrm>
            <a:off x="411480" y="292608"/>
            <a:ext cx="7680960" cy="310896"/>
          </a:xfrm>
          <a:prstGeom prst="rect">
            <a:avLst/>
          </a:prstGeom>
          <a:noFill/>
          <a:ln/>
        </p:spPr>
        <p:txBody>
          <a:bodyPr wrap="square" lIns="0" tIns="0" rIns="0" bIns="0" rtlCol="0" anchor="ctr"/>
          <a:lstStyle/>
          <a:p>
            <a:pPr marL="0" indent="0">
              <a:buNone/>
            </a:pPr>
            <a:r>
              <a:rPr lang="en-US" sz="2000" b="1" dirty="0">
                <a:solidFill>
                  <a:srgbClr val="172238"/>
                </a:solidFill>
                <a:latin typeface="Arial" pitchFamily="34" charset="0"/>
                <a:ea typeface="Arial" pitchFamily="34" charset="-122"/>
                <a:cs typeface="Arial" pitchFamily="34" charset="-120"/>
              </a:rPr>
              <a:t>Notification Center</a:t>
            </a:r>
            <a:endParaRPr lang="en-US" sz="2000" dirty="0"/>
          </a:p>
        </p:txBody>
      </p:sp>
      <p:sp>
        <p:nvSpPr>
          <p:cNvPr id="4" name="Text 2"/>
          <p:cNvSpPr/>
          <p:nvPr/>
        </p:nvSpPr>
        <p:spPr>
          <a:xfrm>
            <a:off x="411480" y="685800"/>
            <a:ext cx="7772400" cy="256032"/>
          </a:xfrm>
          <a:prstGeom prst="rect">
            <a:avLst/>
          </a:prstGeom>
          <a:noFill/>
          <a:ln/>
        </p:spPr>
        <p:txBody>
          <a:bodyPr wrap="square" lIns="0" tIns="0" rIns="0" bIns="0" rtlCol="0" anchor="ctr"/>
          <a:lstStyle/>
          <a:p>
            <a:pPr marL="0" indent="0">
              <a:buNone/>
            </a:pPr>
            <a:endParaRPr lang="en-US" sz="850" dirty="0"/>
          </a:p>
        </p:txBody>
      </p:sp>
      <p:sp>
        <p:nvSpPr>
          <p:cNvPr id="5" name="Text 3"/>
          <p:cNvSpPr/>
          <p:nvPr/>
        </p:nvSpPr>
        <p:spPr>
          <a:xfrm>
            <a:off x="411480" y="6446520"/>
            <a:ext cx="3749040" cy="146304"/>
          </a:xfrm>
          <a:prstGeom prst="rect">
            <a:avLst/>
          </a:prstGeom>
          <a:noFill/>
          <a:ln/>
        </p:spPr>
        <p:txBody>
          <a:bodyPr wrap="square" lIns="0" tIns="0" rIns="0" bIns="0" rtlCol="0" anchor="ctr"/>
          <a:lstStyle/>
          <a:p>
            <a:pPr marL="0" indent="0">
              <a:buNone/>
            </a:pPr>
            <a:r>
              <a:rPr lang="en-US" sz="580" dirty="0">
                <a:solidFill>
                  <a:srgbClr val="8A98AD"/>
                </a:solidFill>
              </a:rPr>
              <a:t>JRS Individual Presentation | Zhao Yikai</a:t>
            </a:r>
            <a:endParaRPr lang="en-US" sz="580" dirty="0"/>
          </a:p>
        </p:txBody>
      </p:sp>
      <p:sp>
        <p:nvSpPr>
          <p:cNvPr id="6" name="Text 4"/>
          <p:cNvSpPr/>
          <p:nvPr/>
        </p:nvSpPr>
        <p:spPr>
          <a:xfrm>
            <a:off x="11722608" y="6446520"/>
            <a:ext cx="91440" cy="146304"/>
          </a:xfrm>
          <a:prstGeom prst="rect">
            <a:avLst/>
          </a:prstGeom>
          <a:noFill/>
          <a:ln/>
        </p:spPr>
        <p:txBody>
          <a:bodyPr wrap="square" lIns="0" tIns="0" rIns="0" bIns="0" rtlCol="0" anchor="ctr"/>
          <a:lstStyle/>
          <a:p>
            <a:pPr marL="0" indent="0" algn="r">
              <a:buNone/>
            </a:pPr>
            <a:r>
              <a:rPr lang="en-US" sz="550" dirty="0">
                <a:solidFill>
                  <a:srgbClr val="8A98AD"/>
                </a:solidFill>
              </a:rPr>
              <a:t>5</a:t>
            </a:r>
            <a:endParaRPr lang="en-US" sz="550" dirty="0"/>
          </a:p>
        </p:txBody>
      </p:sp>
      <p:sp>
        <p:nvSpPr>
          <p:cNvPr id="7" name="Shape 5"/>
          <p:cNvSpPr/>
          <p:nvPr/>
        </p:nvSpPr>
        <p:spPr>
          <a:xfrm>
            <a:off x="621792" y="1078992"/>
            <a:ext cx="6711696" cy="4270248"/>
          </a:xfrm>
          <a:prstGeom prst="roundRect">
            <a:avLst>
              <a:gd name="adj" fmla="val 1713"/>
            </a:avLst>
          </a:prstGeom>
          <a:solidFill>
            <a:srgbClr val="FFFFFF"/>
          </a:solidFill>
          <a:ln w="12700">
            <a:solidFill>
              <a:srgbClr val="D7E3F2"/>
            </a:solidFill>
            <a:prstDash val="solid"/>
          </a:ln>
        </p:spPr>
        <p:txBody>
          <a:bodyPr/>
          <a:lstStyle/>
          <a:p>
            <a:endParaRPr lang="zh-CN" altLang="en-US"/>
          </a:p>
        </p:txBody>
      </p:sp>
      <p:pic>
        <p:nvPicPr>
          <p:cNvPr id="8" name="Image 0" descr="/mnt/data/notification_center_screen.png"/>
          <p:cNvPicPr>
            <a:picLocks noChangeAspect="1"/>
          </p:cNvPicPr>
          <p:nvPr/>
        </p:nvPicPr>
        <p:blipFill>
          <a:blip r:embed="rId3"/>
          <a:stretch>
            <a:fillRect/>
          </a:stretch>
        </p:blipFill>
        <p:spPr>
          <a:xfrm>
            <a:off x="644749" y="1097280"/>
            <a:ext cx="6665781" cy="4233672"/>
          </a:xfrm>
          <a:prstGeom prst="rect">
            <a:avLst/>
          </a:prstGeom>
        </p:spPr>
      </p:pic>
      <p:sp>
        <p:nvSpPr>
          <p:cNvPr id="9" name="Shape 6"/>
          <p:cNvSpPr/>
          <p:nvPr/>
        </p:nvSpPr>
        <p:spPr>
          <a:xfrm>
            <a:off x="7635240" y="1097280"/>
            <a:ext cx="3840480" cy="4233672"/>
          </a:xfrm>
          <a:prstGeom prst="roundRect">
            <a:avLst>
              <a:gd name="adj" fmla="val 1905"/>
            </a:avLst>
          </a:prstGeom>
          <a:solidFill>
            <a:srgbClr val="FFFFFF"/>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10" name="Text 7"/>
          <p:cNvSpPr/>
          <p:nvPr/>
        </p:nvSpPr>
        <p:spPr>
          <a:xfrm>
            <a:off x="7955280" y="1481328"/>
            <a:ext cx="2011680" cy="256032"/>
          </a:xfrm>
          <a:prstGeom prst="rect">
            <a:avLst/>
          </a:prstGeom>
          <a:noFill/>
          <a:ln/>
        </p:spPr>
        <p:txBody>
          <a:bodyPr wrap="square" lIns="0" tIns="0" rIns="0" bIns="0" rtlCol="0" anchor="ctr"/>
          <a:lstStyle/>
          <a:p>
            <a:pPr marL="0" indent="0">
              <a:buNone/>
            </a:pPr>
            <a:r>
              <a:rPr lang="en-US" sz="1600" b="1" dirty="0">
                <a:solidFill>
                  <a:srgbClr val="172238"/>
                </a:solidFill>
              </a:rPr>
              <a:t>Why it matters</a:t>
            </a:r>
            <a:endParaRPr lang="en-US" sz="1600" dirty="0"/>
          </a:p>
        </p:txBody>
      </p:sp>
      <p:sp>
        <p:nvSpPr>
          <p:cNvPr id="11" name="Text 8"/>
          <p:cNvSpPr/>
          <p:nvPr/>
        </p:nvSpPr>
        <p:spPr>
          <a:xfrm>
            <a:off x="7955280" y="1920240"/>
            <a:ext cx="3063240" cy="777240"/>
          </a:xfrm>
          <a:prstGeom prst="rect">
            <a:avLst/>
          </a:prstGeom>
          <a:noFill/>
          <a:ln/>
        </p:spPr>
        <p:txBody>
          <a:bodyPr wrap="square" lIns="0" tIns="0" rIns="0" bIns="0" rtlCol="0" anchor="ctr">
            <a:normAutofit lnSpcReduction="10000"/>
          </a:bodyPr>
          <a:lstStyle/>
          <a:p>
            <a:pPr marL="0" indent="0">
              <a:buNone/>
            </a:pPr>
            <a:r>
              <a:rPr lang="en-US" sz="1300" dirty="0">
                <a:solidFill>
                  <a:srgbClr val="667085"/>
                </a:solidFill>
              </a:rPr>
              <a:t>HR may handle many applications in one day, so important changes need to be visible without searching across different pages.</a:t>
            </a:r>
            <a:endParaRPr lang="en-US" sz="1300" dirty="0"/>
          </a:p>
        </p:txBody>
      </p:sp>
      <p:sp>
        <p:nvSpPr>
          <p:cNvPr id="12" name="Shape 9"/>
          <p:cNvSpPr/>
          <p:nvPr/>
        </p:nvSpPr>
        <p:spPr>
          <a:xfrm>
            <a:off x="7973568" y="3017520"/>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13" name="Text 10"/>
          <p:cNvSpPr/>
          <p:nvPr/>
        </p:nvSpPr>
        <p:spPr>
          <a:xfrm>
            <a:off x="8174736" y="2971800"/>
            <a:ext cx="274320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New applications appear here</a:t>
            </a:r>
            <a:endParaRPr lang="en-US" sz="1000" dirty="0"/>
          </a:p>
        </p:txBody>
      </p:sp>
      <p:sp>
        <p:nvSpPr>
          <p:cNvPr id="14" name="Shape 11"/>
          <p:cNvSpPr/>
          <p:nvPr/>
        </p:nvSpPr>
        <p:spPr>
          <a:xfrm>
            <a:off x="7973568" y="3538728"/>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15" name="Text 12"/>
          <p:cNvSpPr/>
          <p:nvPr/>
        </p:nvSpPr>
        <p:spPr>
          <a:xfrm>
            <a:off x="8174736" y="3493008"/>
            <a:ext cx="274320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Unread updates are easy to notice</a:t>
            </a:r>
            <a:endParaRPr lang="en-US" sz="1000" dirty="0"/>
          </a:p>
        </p:txBody>
      </p:sp>
      <p:sp>
        <p:nvSpPr>
          <p:cNvPr id="16" name="Shape 13"/>
          <p:cNvSpPr/>
          <p:nvPr/>
        </p:nvSpPr>
        <p:spPr>
          <a:xfrm>
            <a:off x="7973568" y="4059936"/>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17" name="Text 14"/>
          <p:cNvSpPr/>
          <p:nvPr/>
        </p:nvSpPr>
        <p:spPr>
          <a:xfrm>
            <a:off x="8174736" y="4014216"/>
            <a:ext cx="274320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View opens the related application</a:t>
            </a:r>
            <a:endParaRPr lang="en-US" sz="1000" dirty="0"/>
          </a:p>
        </p:txBody>
      </p:sp>
      <p:sp>
        <p:nvSpPr>
          <p:cNvPr id="18" name="Shape 15"/>
          <p:cNvSpPr/>
          <p:nvPr/>
        </p:nvSpPr>
        <p:spPr>
          <a:xfrm>
            <a:off x="7973568" y="4800600"/>
            <a:ext cx="1645920" cy="301752"/>
          </a:xfrm>
          <a:prstGeom prst="roundRect">
            <a:avLst>
              <a:gd name="adj" fmla="val 48485"/>
            </a:avLst>
          </a:prstGeom>
          <a:solidFill>
            <a:srgbClr val="EAF2FF"/>
          </a:solidFill>
          <a:ln w="12700">
            <a:solidFill>
              <a:srgbClr val="EAF2FF"/>
            </a:solidFill>
            <a:prstDash val="solid"/>
          </a:ln>
        </p:spPr>
        <p:txBody>
          <a:bodyPr/>
          <a:lstStyle/>
          <a:p>
            <a:endParaRPr lang="zh-CN" altLang="en-US"/>
          </a:p>
        </p:txBody>
      </p:sp>
      <p:sp>
        <p:nvSpPr>
          <p:cNvPr id="19" name="Text 16"/>
          <p:cNvSpPr/>
          <p:nvPr/>
        </p:nvSpPr>
        <p:spPr>
          <a:xfrm>
            <a:off x="8019288" y="4882896"/>
            <a:ext cx="1554480" cy="137160"/>
          </a:xfrm>
          <a:prstGeom prst="rect">
            <a:avLst/>
          </a:prstGeom>
          <a:noFill/>
          <a:ln/>
        </p:spPr>
        <p:txBody>
          <a:bodyPr wrap="square" lIns="0" tIns="0" rIns="0" bIns="0" rtlCol="0" anchor="ctr"/>
          <a:lstStyle/>
          <a:p>
            <a:pPr marL="0" indent="0" algn="ctr">
              <a:buNone/>
            </a:pPr>
            <a:r>
              <a:rPr lang="en-US" sz="750" b="1" dirty="0">
                <a:solidFill>
                  <a:srgbClr val="316CEB"/>
                </a:solidFill>
              </a:rPr>
              <a:t>System updates only</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3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3F8"/>
          </a:solidFill>
          <a:ln w="12700">
            <a:solidFill>
              <a:srgbClr val="EEF3F8"/>
            </a:solidFill>
            <a:prstDash val="solid"/>
          </a:ln>
        </p:spPr>
        <p:txBody>
          <a:bodyPr/>
          <a:lstStyle/>
          <a:p>
            <a:endParaRPr lang="zh-CN" altLang="en-US"/>
          </a:p>
        </p:txBody>
      </p:sp>
      <p:sp>
        <p:nvSpPr>
          <p:cNvPr id="3" name="Text 1"/>
          <p:cNvSpPr/>
          <p:nvPr/>
        </p:nvSpPr>
        <p:spPr>
          <a:xfrm>
            <a:off x="411480" y="292608"/>
            <a:ext cx="7680960" cy="310896"/>
          </a:xfrm>
          <a:prstGeom prst="rect">
            <a:avLst/>
          </a:prstGeom>
          <a:noFill/>
          <a:ln/>
        </p:spPr>
        <p:txBody>
          <a:bodyPr wrap="square" lIns="0" tIns="0" rIns="0" bIns="0" rtlCol="0" anchor="ctr"/>
          <a:lstStyle/>
          <a:p>
            <a:pPr marL="0" indent="0">
              <a:buNone/>
            </a:pPr>
            <a:r>
              <a:rPr lang="en-US" sz="2000" b="1" dirty="0">
                <a:solidFill>
                  <a:srgbClr val="172238"/>
                </a:solidFill>
                <a:latin typeface="Arial" pitchFamily="34" charset="0"/>
                <a:ea typeface="Arial" pitchFamily="34" charset="-122"/>
                <a:cs typeface="Arial" pitchFamily="34" charset="-120"/>
              </a:rPr>
              <a:t>Email Templates and Notification Log</a:t>
            </a:r>
            <a:endParaRPr lang="en-US" sz="2000" dirty="0"/>
          </a:p>
        </p:txBody>
      </p:sp>
      <p:sp>
        <p:nvSpPr>
          <p:cNvPr id="4" name="Text 2"/>
          <p:cNvSpPr/>
          <p:nvPr/>
        </p:nvSpPr>
        <p:spPr>
          <a:xfrm>
            <a:off x="411480" y="685800"/>
            <a:ext cx="7772400" cy="256032"/>
          </a:xfrm>
          <a:prstGeom prst="rect">
            <a:avLst/>
          </a:prstGeom>
          <a:noFill/>
          <a:ln/>
        </p:spPr>
        <p:txBody>
          <a:bodyPr wrap="square" lIns="0" tIns="0" rIns="0" bIns="0" rtlCol="0" anchor="ctr"/>
          <a:lstStyle/>
          <a:p>
            <a:pPr marL="0" indent="0">
              <a:buNone/>
            </a:pPr>
            <a:endParaRPr lang="en-US" sz="850" dirty="0"/>
          </a:p>
        </p:txBody>
      </p:sp>
      <p:sp>
        <p:nvSpPr>
          <p:cNvPr id="5" name="Text 3"/>
          <p:cNvSpPr/>
          <p:nvPr/>
        </p:nvSpPr>
        <p:spPr>
          <a:xfrm>
            <a:off x="411480" y="6446520"/>
            <a:ext cx="3749040" cy="146304"/>
          </a:xfrm>
          <a:prstGeom prst="rect">
            <a:avLst/>
          </a:prstGeom>
          <a:noFill/>
          <a:ln/>
        </p:spPr>
        <p:txBody>
          <a:bodyPr wrap="square" lIns="0" tIns="0" rIns="0" bIns="0" rtlCol="0" anchor="ctr"/>
          <a:lstStyle/>
          <a:p>
            <a:pPr marL="0" indent="0">
              <a:buNone/>
            </a:pPr>
            <a:r>
              <a:rPr lang="en-US" sz="580" dirty="0">
                <a:solidFill>
                  <a:srgbClr val="8A98AD"/>
                </a:solidFill>
              </a:rPr>
              <a:t>JRS Individual Presentation | Zhao Yikai</a:t>
            </a:r>
            <a:endParaRPr lang="en-US" sz="580" dirty="0"/>
          </a:p>
        </p:txBody>
      </p:sp>
      <p:sp>
        <p:nvSpPr>
          <p:cNvPr id="6" name="Text 4"/>
          <p:cNvSpPr/>
          <p:nvPr/>
        </p:nvSpPr>
        <p:spPr>
          <a:xfrm>
            <a:off x="11722608" y="6446520"/>
            <a:ext cx="91440" cy="146304"/>
          </a:xfrm>
          <a:prstGeom prst="rect">
            <a:avLst/>
          </a:prstGeom>
          <a:noFill/>
          <a:ln/>
        </p:spPr>
        <p:txBody>
          <a:bodyPr wrap="square" lIns="0" tIns="0" rIns="0" bIns="0" rtlCol="0" anchor="ctr"/>
          <a:lstStyle/>
          <a:p>
            <a:pPr marL="0" indent="0" algn="r">
              <a:buNone/>
            </a:pPr>
            <a:r>
              <a:rPr lang="en-US" sz="550" dirty="0">
                <a:solidFill>
                  <a:srgbClr val="8A98AD"/>
                </a:solidFill>
              </a:rPr>
              <a:t>6</a:t>
            </a:r>
            <a:endParaRPr lang="en-US" sz="550" dirty="0"/>
          </a:p>
        </p:txBody>
      </p:sp>
      <p:sp>
        <p:nvSpPr>
          <p:cNvPr id="7" name="Shape 5"/>
          <p:cNvSpPr/>
          <p:nvPr/>
        </p:nvSpPr>
        <p:spPr>
          <a:xfrm>
            <a:off x="640080" y="1097280"/>
            <a:ext cx="5111496" cy="3419856"/>
          </a:xfrm>
          <a:prstGeom prst="roundRect">
            <a:avLst>
              <a:gd name="adj" fmla="val 2139"/>
            </a:avLst>
          </a:prstGeom>
          <a:solidFill>
            <a:srgbClr val="FFFFFF"/>
          </a:solidFill>
          <a:ln w="12700">
            <a:solidFill>
              <a:srgbClr val="D7E3F2"/>
            </a:solidFill>
            <a:prstDash val="solid"/>
          </a:ln>
        </p:spPr>
        <p:txBody>
          <a:bodyPr/>
          <a:lstStyle/>
          <a:p>
            <a:endParaRPr lang="zh-CN" altLang="en-US"/>
          </a:p>
        </p:txBody>
      </p:sp>
      <p:pic>
        <p:nvPicPr>
          <p:cNvPr id="8" name="Image 0" descr="/mnt/data/email_templates_screen.png"/>
          <p:cNvPicPr>
            <a:picLocks noChangeAspect="1"/>
          </p:cNvPicPr>
          <p:nvPr/>
        </p:nvPicPr>
        <p:blipFill>
          <a:blip r:embed="rId3"/>
          <a:stretch>
            <a:fillRect/>
          </a:stretch>
        </p:blipFill>
        <p:spPr>
          <a:xfrm>
            <a:off x="658368" y="1195578"/>
            <a:ext cx="5074920" cy="3223260"/>
          </a:xfrm>
          <a:prstGeom prst="rect">
            <a:avLst/>
          </a:prstGeom>
        </p:spPr>
      </p:pic>
      <p:sp>
        <p:nvSpPr>
          <p:cNvPr id="9" name="Shape 6"/>
          <p:cNvSpPr/>
          <p:nvPr/>
        </p:nvSpPr>
        <p:spPr>
          <a:xfrm>
            <a:off x="6428232" y="1097280"/>
            <a:ext cx="5111496" cy="3419856"/>
          </a:xfrm>
          <a:prstGeom prst="roundRect">
            <a:avLst>
              <a:gd name="adj" fmla="val 2139"/>
            </a:avLst>
          </a:prstGeom>
          <a:solidFill>
            <a:srgbClr val="FFFFFF"/>
          </a:solidFill>
          <a:ln w="12700">
            <a:solidFill>
              <a:srgbClr val="D7E3F2"/>
            </a:solidFill>
            <a:prstDash val="solid"/>
          </a:ln>
        </p:spPr>
        <p:txBody>
          <a:bodyPr/>
          <a:lstStyle/>
          <a:p>
            <a:endParaRPr lang="zh-CN" altLang="en-US"/>
          </a:p>
        </p:txBody>
      </p:sp>
      <p:pic>
        <p:nvPicPr>
          <p:cNvPr id="10" name="Image 1" descr="/mnt/data/notification_log_screen.png"/>
          <p:cNvPicPr>
            <a:picLocks noChangeAspect="1"/>
          </p:cNvPicPr>
          <p:nvPr/>
        </p:nvPicPr>
        <p:blipFill>
          <a:blip r:embed="rId4"/>
          <a:stretch>
            <a:fillRect/>
          </a:stretch>
        </p:blipFill>
        <p:spPr>
          <a:xfrm>
            <a:off x="6446520" y="1195578"/>
            <a:ext cx="5074920" cy="3223260"/>
          </a:xfrm>
          <a:prstGeom prst="rect">
            <a:avLst/>
          </a:prstGeom>
        </p:spPr>
      </p:pic>
      <p:sp>
        <p:nvSpPr>
          <p:cNvPr id="11" name="Text 7"/>
          <p:cNvSpPr/>
          <p:nvPr/>
        </p:nvSpPr>
        <p:spPr>
          <a:xfrm>
            <a:off x="822960" y="4645152"/>
            <a:ext cx="2011680" cy="146304"/>
          </a:xfrm>
          <a:prstGeom prst="rect">
            <a:avLst/>
          </a:prstGeom>
          <a:noFill/>
          <a:ln/>
        </p:spPr>
        <p:txBody>
          <a:bodyPr wrap="square" lIns="0" tIns="0" rIns="0" bIns="0" rtlCol="0" anchor="ctr"/>
          <a:lstStyle/>
          <a:p>
            <a:pPr marL="0" indent="0" algn="ctr">
              <a:buNone/>
            </a:pPr>
            <a:r>
              <a:rPr lang="en-US" sz="660" b="1" dirty="0">
                <a:solidFill>
                  <a:srgbClr val="316CEB"/>
                </a:solidFill>
              </a:rPr>
              <a:t>Prepare standard wording once</a:t>
            </a:r>
            <a:endParaRPr lang="en-US" sz="660" dirty="0"/>
          </a:p>
        </p:txBody>
      </p:sp>
      <p:sp>
        <p:nvSpPr>
          <p:cNvPr id="12" name="Text 8"/>
          <p:cNvSpPr/>
          <p:nvPr/>
        </p:nvSpPr>
        <p:spPr>
          <a:xfrm>
            <a:off x="6675120" y="4645152"/>
            <a:ext cx="2011680" cy="146304"/>
          </a:xfrm>
          <a:prstGeom prst="rect">
            <a:avLst/>
          </a:prstGeom>
          <a:noFill/>
          <a:ln/>
        </p:spPr>
        <p:txBody>
          <a:bodyPr wrap="square" lIns="0" tIns="0" rIns="0" bIns="0" rtlCol="0" anchor="ctr"/>
          <a:lstStyle/>
          <a:p>
            <a:pPr marL="0" indent="0" algn="ctr">
              <a:buNone/>
            </a:pPr>
            <a:r>
              <a:rPr lang="en-US" sz="660" b="1" dirty="0">
                <a:solidFill>
                  <a:srgbClr val="7B61FF"/>
                </a:solidFill>
              </a:rPr>
              <a:t>Review what was sent later</a:t>
            </a:r>
            <a:endParaRPr lang="en-US" sz="660" dirty="0"/>
          </a:p>
        </p:txBody>
      </p:sp>
      <p:sp>
        <p:nvSpPr>
          <p:cNvPr id="13" name="Shape 9"/>
          <p:cNvSpPr/>
          <p:nvPr/>
        </p:nvSpPr>
        <p:spPr>
          <a:xfrm>
            <a:off x="1188720" y="5120640"/>
            <a:ext cx="9692640" cy="685800"/>
          </a:xfrm>
          <a:prstGeom prst="roundRect">
            <a:avLst>
              <a:gd name="adj" fmla="val 10667"/>
            </a:avLst>
          </a:prstGeom>
          <a:solidFill>
            <a:srgbClr val="FFFFFF"/>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14" name="Text 10"/>
          <p:cNvSpPr/>
          <p:nvPr/>
        </p:nvSpPr>
        <p:spPr>
          <a:xfrm>
            <a:off x="1417320" y="5358384"/>
            <a:ext cx="9235440" cy="256032"/>
          </a:xfrm>
          <a:prstGeom prst="rect">
            <a:avLst/>
          </a:prstGeom>
          <a:noFill/>
          <a:ln/>
        </p:spPr>
        <p:txBody>
          <a:bodyPr wrap="square" lIns="0" tIns="0" rIns="0" bIns="0" rtlCol="0" anchor="ctr">
            <a:normAutofit fontScale="92500"/>
          </a:bodyPr>
          <a:lstStyle/>
          <a:p>
            <a:pPr marL="0" indent="0" algn="ctr">
              <a:buNone/>
            </a:pPr>
            <a:r>
              <a:rPr lang="en-US" sz="1300" dirty="0">
                <a:solidFill>
                  <a:srgbClr val="667085"/>
                </a:solidFill>
              </a:rPr>
              <a:t>This reduces inconsistent messages and gives HR a clear reference when a candidate or team member asks about past communication.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3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3F8"/>
          </a:solidFill>
          <a:ln w="12700">
            <a:solidFill>
              <a:srgbClr val="EEF3F8"/>
            </a:solidFill>
            <a:prstDash val="solid"/>
          </a:ln>
        </p:spPr>
        <p:txBody>
          <a:bodyPr/>
          <a:lstStyle/>
          <a:p>
            <a:endParaRPr lang="zh-CN" altLang="en-US"/>
          </a:p>
        </p:txBody>
      </p:sp>
      <p:sp>
        <p:nvSpPr>
          <p:cNvPr id="3" name="Text 1"/>
          <p:cNvSpPr/>
          <p:nvPr/>
        </p:nvSpPr>
        <p:spPr>
          <a:xfrm>
            <a:off x="411480" y="292608"/>
            <a:ext cx="7680960" cy="310896"/>
          </a:xfrm>
          <a:prstGeom prst="rect">
            <a:avLst/>
          </a:prstGeom>
          <a:noFill/>
          <a:ln/>
        </p:spPr>
        <p:txBody>
          <a:bodyPr wrap="square" lIns="0" tIns="0" rIns="0" bIns="0" rtlCol="0" anchor="ctr"/>
          <a:lstStyle/>
          <a:p>
            <a:pPr marL="0" indent="0">
              <a:buNone/>
            </a:pPr>
            <a:r>
              <a:rPr lang="en-US" sz="2000" b="1" dirty="0">
                <a:solidFill>
                  <a:srgbClr val="172238"/>
                </a:solidFill>
                <a:latin typeface="Arial" pitchFamily="34" charset="0"/>
                <a:ea typeface="Arial" pitchFamily="34" charset="-122"/>
                <a:cs typeface="Arial" pitchFamily="34" charset="-120"/>
              </a:rPr>
              <a:t>HR Profile and avatar menu</a:t>
            </a:r>
            <a:endParaRPr lang="en-US" sz="2000" dirty="0"/>
          </a:p>
        </p:txBody>
      </p:sp>
      <p:sp>
        <p:nvSpPr>
          <p:cNvPr id="4" name="Text 2"/>
          <p:cNvSpPr/>
          <p:nvPr/>
        </p:nvSpPr>
        <p:spPr>
          <a:xfrm>
            <a:off x="411480" y="685800"/>
            <a:ext cx="7772400" cy="256032"/>
          </a:xfrm>
          <a:prstGeom prst="rect">
            <a:avLst/>
          </a:prstGeom>
          <a:noFill/>
          <a:ln/>
        </p:spPr>
        <p:txBody>
          <a:bodyPr wrap="square" lIns="0" tIns="0" rIns="0" bIns="0" rtlCol="0" anchor="ctr"/>
          <a:lstStyle/>
          <a:p>
            <a:pPr marL="0" indent="0">
              <a:buNone/>
            </a:pPr>
            <a:endParaRPr lang="en-US" sz="850" dirty="0"/>
          </a:p>
        </p:txBody>
      </p:sp>
      <p:sp>
        <p:nvSpPr>
          <p:cNvPr id="5" name="Text 3"/>
          <p:cNvSpPr/>
          <p:nvPr/>
        </p:nvSpPr>
        <p:spPr>
          <a:xfrm>
            <a:off x="411480" y="6446520"/>
            <a:ext cx="3749040" cy="146304"/>
          </a:xfrm>
          <a:prstGeom prst="rect">
            <a:avLst/>
          </a:prstGeom>
          <a:noFill/>
          <a:ln/>
        </p:spPr>
        <p:txBody>
          <a:bodyPr wrap="square" lIns="0" tIns="0" rIns="0" bIns="0" rtlCol="0" anchor="ctr"/>
          <a:lstStyle/>
          <a:p>
            <a:pPr marL="0" indent="0">
              <a:buNone/>
            </a:pPr>
            <a:r>
              <a:rPr lang="en-US" sz="580" dirty="0">
                <a:solidFill>
                  <a:srgbClr val="8A98AD"/>
                </a:solidFill>
              </a:rPr>
              <a:t>JRS Individual Presentation | Zhao Yikai</a:t>
            </a:r>
            <a:endParaRPr lang="en-US" sz="580" dirty="0"/>
          </a:p>
        </p:txBody>
      </p:sp>
      <p:sp>
        <p:nvSpPr>
          <p:cNvPr id="6" name="Text 4"/>
          <p:cNvSpPr/>
          <p:nvPr/>
        </p:nvSpPr>
        <p:spPr>
          <a:xfrm>
            <a:off x="11722608" y="6446520"/>
            <a:ext cx="91440" cy="146304"/>
          </a:xfrm>
          <a:prstGeom prst="rect">
            <a:avLst/>
          </a:prstGeom>
          <a:noFill/>
          <a:ln/>
        </p:spPr>
        <p:txBody>
          <a:bodyPr wrap="square" lIns="0" tIns="0" rIns="0" bIns="0" rtlCol="0" anchor="ctr"/>
          <a:lstStyle/>
          <a:p>
            <a:pPr marL="0" indent="0" algn="r">
              <a:buNone/>
            </a:pPr>
            <a:r>
              <a:rPr lang="en-US" sz="550" dirty="0">
                <a:solidFill>
                  <a:srgbClr val="8A98AD"/>
                </a:solidFill>
              </a:rPr>
              <a:t>7</a:t>
            </a:r>
            <a:endParaRPr lang="en-US" sz="550" dirty="0"/>
          </a:p>
        </p:txBody>
      </p:sp>
      <p:sp>
        <p:nvSpPr>
          <p:cNvPr id="7" name="Shape 5"/>
          <p:cNvSpPr/>
          <p:nvPr/>
        </p:nvSpPr>
        <p:spPr>
          <a:xfrm>
            <a:off x="640080" y="1033272"/>
            <a:ext cx="5111496" cy="3099816"/>
          </a:xfrm>
          <a:prstGeom prst="roundRect">
            <a:avLst>
              <a:gd name="adj" fmla="val 2360"/>
            </a:avLst>
          </a:prstGeom>
          <a:solidFill>
            <a:srgbClr val="FFFFFF"/>
          </a:solidFill>
          <a:ln w="12700">
            <a:solidFill>
              <a:srgbClr val="D7E3F2"/>
            </a:solidFill>
            <a:prstDash val="solid"/>
          </a:ln>
        </p:spPr>
        <p:txBody>
          <a:bodyPr/>
          <a:lstStyle/>
          <a:p>
            <a:endParaRPr lang="zh-CN" altLang="en-US"/>
          </a:p>
        </p:txBody>
      </p:sp>
      <p:pic>
        <p:nvPicPr>
          <p:cNvPr id="8" name="Image 0" descr="/mnt/data/my_profile_screen.png"/>
          <p:cNvPicPr>
            <a:picLocks noChangeAspect="1"/>
          </p:cNvPicPr>
          <p:nvPr/>
        </p:nvPicPr>
        <p:blipFill>
          <a:blip r:embed="rId3"/>
          <a:stretch>
            <a:fillRect/>
          </a:stretch>
        </p:blipFill>
        <p:spPr>
          <a:xfrm>
            <a:off x="784341" y="1051560"/>
            <a:ext cx="4822974" cy="3063240"/>
          </a:xfrm>
          <a:prstGeom prst="rect">
            <a:avLst/>
          </a:prstGeom>
        </p:spPr>
      </p:pic>
      <p:sp>
        <p:nvSpPr>
          <p:cNvPr id="9" name="Shape 6"/>
          <p:cNvSpPr/>
          <p:nvPr/>
        </p:nvSpPr>
        <p:spPr>
          <a:xfrm>
            <a:off x="6428232" y="1033272"/>
            <a:ext cx="5111496" cy="3099816"/>
          </a:xfrm>
          <a:prstGeom prst="roundRect">
            <a:avLst>
              <a:gd name="adj" fmla="val 2360"/>
            </a:avLst>
          </a:prstGeom>
          <a:solidFill>
            <a:srgbClr val="FFFFFF"/>
          </a:solidFill>
          <a:ln w="12700">
            <a:solidFill>
              <a:srgbClr val="D7E3F2"/>
            </a:solidFill>
            <a:prstDash val="solid"/>
          </a:ln>
        </p:spPr>
        <p:txBody>
          <a:bodyPr/>
          <a:lstStyle/>
          <a:p>
            <a:endParaRPr lang="zh-CN" altLang="en-US"/>
          </a:p>
        </p:txBody>
      </p:sp>
      <p:pic>
        <p:nvPicPr>
          <p:cNvPr id="10" name="Image 1" descr="/mnt/data/edit_profile_screen.png"/>
          <p:cNvPicPr>
            <a:picLocks noChangeAspect="1"/>
          </p:cNvPicPr>
          <p:nvPr/>
        </p:nvPicPr>
        <p:blipFill>
          <a:blip r:embed="rId4"/>
          <a:stretch>
            <a:fillRect/>
          </a:stretch>
        </p:blipFill>
        <p:spPr>
          <a:xfrm>
            <a:off x="6572493" y="1051560"/>
            <a:ext cx="4822974" cy="3063240"/>
          </a:xfrm>
          <a:prstGeom prst="rect">
            <a:avLst/>
          </a:prstGeom>
        </p:spPr>
      </p:pic>
      <p:sp>
        <p:nvSpPr>
          <p:cNvPr id="11" name="Shape 7"/>
          <p:cNvSpPr/>
          <p:nvPr/>
        </p:nvSpPr>
        <p:spPr>
          <a:xfrm>
            <a:off x="4233672" y="4416552"/>
            <a:ext cx="3739896" cy="1179576"/>
          </a:xfrm>
          <a:prstGeom prst="roundRect">
            <a:avLst>
              <a:gd name="adj" fmla="val 6202"/>
            </a:avLst>
          </a:prstGeom>
          <a:solidFill>
            <a:srgbClr val="FFFFFF"/>
          </a:solidFill>
          <a:ln w="12700">
            <a:solidFill>
              <a:srgbClr val="D7E3F2"/>
            </a:solidFill>
            <a:prstDash val="solid"/>
          </a:ln>
        </p:spPr>
        <p:txBody>
          <a:bodyPr/>
          <a:lstStyle/>
          <a:p>
            <a:endParaRPr lang="zh-CN" altLang="en-US"/>
          </a:p>
        </p:txBody>
      </p:sp>
      <p:pic>
        <p:nvPicPr>
          <p:cNvPr id="12" name="Image 2" descr="/mnt/data/profile_dropdown_screen.png"/>
          <p:cNvPicPr>
            <a:picLocks noChangeAspect="1"/>
          </p:cNvPicPr>
          <p:nvPr/>
        </p:nvPicPr>
        <p:blipFill>
          <a:blip r:embed="rId5"/>
          <a:stretch>
            <a:fillRect/>
          </a:stretch>
        </p:blipFill>
        <p:spPr>
          <a:xfrm>
            <a:off x="5203811" y="4434840"/>
            <a:ext cx="1799617" cy="1143000"/>
          </a:xfrm>
          <a:prstGeom prst="rect">
            <a:avLst/>
          </a:prstGeom>
        </p:spPr>
      </p:pic>
      <p:sp>
        <p:nvSpPr>
          <p:cNvPr id="13" name="Shape 8"/>
          <p:cNvSpPr/>
          <p:nvPr/>
        </p:nvSpPr>
        <p:spPr>
          <a:xfrm>
            <a:off x="960120" y="5715000"/>
            <a:ext cx="10287000" cy="438912"/>
          </a:xfrm>
          <a:prstGeom prst="roundRect">
            <a:avLst>
              <a:gd name="adj" fmla="val 16667"/>
            </a:avLst>
          </a:prstGeom>
          <a:solidFill>
            <a:srgbClr val="FFFFFF"/>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14" name="Text 9"/>
          <p:cNvSpPr/>
          <p:nvPr/>
        </p:nvSpPr>
        <p:spPr>
          <a:xfrm>
            <a:off x="1234440" y="5870448"/>
            <a:ext cx="9738360" cy="164592"/>
          </a:xfrm>
          <a:prstGeom prst="rect">
            <a:avLst/>
          </a:prstGeom>
          <a:noFill/>
          <a:ln/>
        </p:spPr>
        <p:txBody>
          <a:bodyPr wrap="square" lIns="0" tIns="0" rIns="0" bIns="0" rtlCol="0" anchor="ctr">
            <a:normAutofit lnSpcReduction="10000"/>
          </a:bodyPr>
          <a:lstStyle/>
          <a:p>
            <a:pPr marL="0" indent="0" algn="ctr">
              <a:buNone/>
            </a:pPr>
            <a:r>
              <a:rPr lang="en-US" sz="1100" dirty="0">
                <a:solidFill>
                  <a:srgbClr val="667085"/>
                </a:solidFill>
              </a:rPr>
              <a:t>Profile area separates editable personal details from official work information controlled by the organization.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3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3F8"/>
          </a:solidFill>
          <a:ln w="12700">
            <a:solidFill>
              <a:srgbClr val="EEF3F8"/>
            </a:solidFill>
            <a:prstDash val="solid"/>
          </a:ln>
        </p:spPr>
        <p:txBody>
          <a:bodyPr/>
          <a:lstStyle/>
          <a:p>
            <a:endParaRPr lang="zh-CN" altLang="en-US"/>
          </a:p>
        </p:txBody>
      </p:sp>
      <p:sp>
        <p:nvSpPr>
          <p:cNvPr id="3" name="Text 1"/>
          <p:cNvSpPr/>
          <p:nvPr/>
        </p:nvSpPr>
        <p:spPr>
          <a:xfrm>
            <a:off x="411480" y="292608"/>
            <a:ext cx="7680960" cy="310896"/>
          </a:xfrm>
          <a:prstGeom prst="rect">
            <a:avLst/>
          </a:prstGeom>
          <a:noFill/>
          <a:ln/>
        </p:spPr>
        <p:txBody>
          <a:bodyPr wrap="square" lIns="0" tIns="0" rIns="0" bIns="0" rtlCol="0" anchor="ctr"/>
          <a:lstStyle/>
          <a:p>
            <a:pPr marL="0" indent="0">
              <a:buNone/>
            </a:pPr>
            <a:r>
              <a:rPr lang="en-US" sz="2000" b="1" dirty="0">
                <a:solidFill>
                  <a:srgbClr val="172238"/>
                </a:solidFill>
                <a:latin typeface="Arial" pitchFamily="34" charset="0"/>
                <a:ea typeface="Arial" pitchFamily="34" charset="-122"/>
                <a:cs typeface="Arial" pitchFamily="34" charset="-120"/>
              </a:rPr>
              <a:t>ER model and database relationships</a:t>
            </a:r>
            <a:endParaRPr lang="en-US" sz="2000" dirty="0"/>
          </a:p>
        </p:txBody>
      </p:sp>
      <p:sp>
        <p:nvSpPr>
          <p:cNvPr id="4" name="Text 2"/>
          <p:cNvSpPr/>
          <p:nvPr/>
        </p:nvSpPr>
        <p:spPr>
          <a:xfrm>
            <a:off x="411480" y="685800"/>
            <a:ext cx="7772400" cy="256032"/>
          </a:xfrm>
          <a:prstGeom prst="rect">
            <a:avLst/>
          </a:prstGeom>
          <a:noFill/>
          <a:ln/>
        </p:spPr>
        <p:txBody>
          <a:bodyPr wrap="square" lIns="0" tIns="0" rIns="0" bIns="0" rtlCol="0" anchor="ctr"/>
          <a:lstStyle/>
          <a:p>
            <a:pPr marL="0" indent="0">
              <a:buNone/>
            </a:pPr>
            <a:endParaRPr lang="en-US" sz="850" dirty="0"/>
          </a:p>
        </p:txBody>
      </p:sp>
      <p:sp>
        <p:nvSpPr>
          <p:cNvPr id="5" name="Text 3"/>
          <p:cNvSpPr/>
          <p:nvPr/>
        </p:nvSpPr>
        <p:spPr>
          <a:xfrm>
            <a:off x="411480" y="6446520"/>
            <a:ext cx="3749040" cy="146304"/>
          </a:xfrm>
          <a:prstGeom prst="rect">
            <a:avLst/>
          </a:prstGeom>
          <a:noFill/>
          <a:ln/>
        </p:spPr>
        <p:txBody>
          <a:bodyPr wrap="square" lIns="0" tIns="0" rIns="0" bIns="0" rtlCol="0" anchor="ctr"/>
          <a:lstStyle/>
          <a:p>
            <a:pPr marL="0" indent="0">
              <a:buNone/>
            </a:pPr>
            <a:r>
              <a:rPr lang="en-US" sz="580" dirty="0">
                <a:solidFill>
                  <a:srgbClr val="8A98AD"/>
                </a:solidFill>
              </a:rPr>
              <a:t>JRS Individual Presentation | Zhao Yikai</a:t>
            </a:r>
            <a:endParaRPr lang="en-US" sz="580" dirty="0"/>
          </a:p>
        </p:txBody>
      </p:sp>
      <p:sp>
        <p:nvSpPr>
          <p:cNvPr id="6" name="Text 4"/>
          <p:cNvSpPr/>
          <p:nvPr/>
        </p:nvSpPr>
        <p:spPr>
          <a:xfrm>
            <a:off x="11722608" y="6446520"/>
            <a:ext cx="91440" cy="146304"/>
          </a:xfrm>
          <a:prstGeom prst="rect">
            <a:avLst/>
          </a:prstGeom>
          <a:noFill/>
          <a:ln/>
        </p:spPr>
        <p:txBody>
          <a:bodyPr wrap="square" lIns="0" tIns="0" rIns="0" bIns="0" rtlCol="0" anchor="ctr"/>
          <a:lstStyle/>
          <a:p>
            <a:pPr marL="0" indent="0" algn="r">
              <a:buNone/>
            </a:pPr>
            <a:r>
              <a:rPr lang="en-US" sz="550" dirty="0">
                <a:solidFill>
                  <a:srgbClr val="8A98AD"/>
                </a:solidFill>
              </a:rPr>
              <a:t>8</a:t>
            </a:r>
            <a:endParaRPr lang="en-US" sz="550" dirty="0"/>
          </a:p>
        </p:txBody>
      </p:sp>
      <p:sp>
        <p:nvSpPr>
          <p:cNvPr id="7" name="Shape 5"/>
          <p:cNvSpPr/>
          <p:nvPr/>
        </p:nvSpPr>
        <p:spPr>
          <a:xfrm>
            <a:off x="603504" y="1033272"/>
            <a:ext cx="6848856" cy="4974336"/>
          </a:xfrm>
          <a:prstGeom prst="roundRect">
            <a:avLst>
              <a:gd name="adj" fmla="val 1471"/>
            </a:avLst>
          </a:prstGeom>
          <a:solidFill>
            <a:srgbClr val="FFFFFF"/>
          </a:solidFill>
          <a:ln w="12700">
            <a:solidFill>
              <a:srgbClr val="D7E3F2"/>
            </a:solidFill>
            <a:prstDash val="solid"/>
          </a:ln>
        </p:spPr>
        <p:txBody>
          <a:bodyPr/>
          <a:lstStyle/>
          <a:p>
            <a:endParaRPr lang="zh-CN" altLang="en-US"/>
          </a:p>
        </p:txBody>
      </p:sp>
      <p:pic>
        <p:nvPicPr>
          <p:cNvPr id="8" name="Image 0" descr="/mnt/data/image(80).png"/>
          <p:cNvPicPr>
            <a:picLocks noChangeAspect="1"/>
          </p:cNvPicPr>
          <p:nvPr/>
        </p:nvPicPr>
        <p:blipFill>
          <a:blip r:embed="rId3"/>
          <a:stretch>
            <a:fillRect/>
          </a:stretch>
        </p:blipFill>
        <p:spPr>
          <a:xfrm>
            <a:off x="915228" y="1051560"/>
            <a:ext cx="6225409" cy="4937760"/>
          </a:xfrm>
          <a:prstGeom prst="rect">
            <a:avLst/>
          </a:prstGeom>
        </p:spPr>
      </p:pic>
      <p:sp>
        <p:nvSpPr>
          <p:cNvPr id="9" name="Shape 6"/>
          <p:cNvSpPr/>
          <p:nvPr/>
        </p:nvSpPr>
        <p:spPr>
          <a:xfrm>
            <a:off x="7754112" y="1051560"/>
            <a:ext cx="3611880" cy="4937760"/>
          </a:xfrm>
          <a:prstGeom prst="roundRect">
            <a:avLst>
              <a:gd name="adj" fmla="val 2025"/>
            </a:avLst>
          </a:prstGeom>
          <a:solidFill>
            <a:srgbClr val="FFFFFF"/>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10" name="Text 7"/>
          <p:cNvSpPr/>
          <p:nvPr/>
        </p:nvSpPr>
        <p:spPr>
          <a:xfrm>
            <a:off x="8092440" y="1417320"/>
            <a:ext cx="1828800" cy="256032"/>
          </a:xfrm>
          <a:prstGeom prst="rect">
            <a:avLst/>
          </a:prstGeom>
          <a:noFill/>
          <a:ln/>
        </p:spPr>
        <p:txBody>
          <a:bodyPr wrap="square" lIns="0" tIns="0" rIns="0" bIns="0" rtlCol="0" anchor="ctr"/>
          <a:lstStyle/>
          <a:p>
            <a:pPr marL="0" indent="0">
              <a:buNone/>
            </a:pPr>
            <a:r>
              <a:rPr lang="en-US" sz="1600" b="1" dirty="0">
                <a:solidFill>
                  <a:srgbClr val="172238"/>
                </a:solidFill>
              </a:rPr>
              <a:t>Design focus</a:t>
            </a:r>
            <a:endParaRPr lang="en-US" sz="1600" dirty="0"/>
          </a:p>
        </p:txBody>
      </p:sp>
      <p:sp>
        <p:nvSpPr>
          <p:cNvPr id="11" name="Text 8"/>
          <p:cNvSpPr/>
          <p:nvPr/>
        </p:nvSpPr>
        <p:spPr>
          <a:xfrm>
            <a:off x="8092440" y="1874520"/>
            <a:ext cx="2880360" cy="1005840"/>
          </a:xfrm>
          <a:prstGeom prst="rect">
            <a:avLst/>
          </a:prstGeom>
          <a:noFill/>
          <a:ln/>
        </p:spPr>
        <p:txBody>
          <a:bodyPr wrap="square" lIns="0" tIns="0" rIns="0" bIns="0" rtlCol="0" anchor="ctr">
            <a:normAutofit/>
          </a:bodyPr>
          <a:lstStyle/>
          <a:p>
            <a:pPr marL="0" indent="0">
              <a:buNone/>
            </a:pPr>
            <a:r>
              <a:rPr lang="en-US" sz="1300" dirty="0">
                <a:solidFill>
                  <a:srgbClr val="667085"/>
                </a:solidFill>
              </a:rPr>
              <a:t>The model connects each notification and email to the correct recruitment record, so the front end can later load real data from the database.</a:t>
            </a:r>
            <a:endParaRPr lang="en-US" sz="1300" dirty="0"/>
          </a:p>
        </p:txBody>
      </p:sp>
      <p:sp>
        <p:nvSpPr>
          <p:cNvPr id="12" name="Shape 9"/>
          <p:cNvSpPr/>
          <p:nvPr/>
        </p:nvSpPr>
        <p:spPr>
          <a:xfrm>
            <a:off x="8092440" y="3291840"/>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13" name="Text 10"/>
          <p:cNvSpPr/>
          <p:nvPr/>
        </p:nvSpPr>
        <p:spPr>
          <a:xfrm>
            <a:off x="8293608" y="3246120"/>
            <a:ext cx="246888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Candidate and application are traceable</a:t>
            </a:r>
            <a:endParaRPr lang="en-US" sz="1000" dirty="0"/>
          </a:p>
        </p:txBody>
      </p:sp>
      <p:sp>
        <p:nvSpPr>
          <p:cNvPr id="14" name="Shape 11"/>
          <p:cNvSpPr/>
          <p:nvPr/>
        </p:nvSpPr>
        <p:spPr>
          <a:xfrm>
            <a:off x="8092440" y="3822192"/>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15" name="Text 12"/>
          <p:cNvSpPr/>
          <p:nvPr/>
        </p:nvSpPr>
        <p:spPr>
          <a:xfrm>
            <a:off x="8293608" y="3776472"/>
            <a:ext cx="246888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Profile details have a clear place</a:t>
            </a:r>
            <a:endParaRPr lang="en-US" sz="1000" dirty="0"/>
          </a:p>
        </p:txBody>
      </p:sp>
      <p:sp>
        <p:nvSpPr>
          <p:cNvPr id="16" name="Shape 13"/>
          <p:cNvSpPr/>
          <p:nvPr/>
        </p:nvSpPr>
        <p:spPr>
          <a:xfrm>
            <a:off x="8092440" y="4352544"/>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17" name="Text 14"/>
          <p:cNvSpPr/>
          <p:nvPr/>
        </p:nvSpPr>
        <p:spPr>
          <a:xfrm>
            <a:off x="8293608" y="4306824"/>
            <a:ext cx="246888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Attachments can be linked to sent messages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3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3F8"/>
          </a:solidFill>
          <a:ln w="12700">
            <a:solidFill>
              <a:srgbClr val="EEF3F8"/>
            </a:solidFill>
            <a:prstDash val="solid"/>
          </a:ln>
        </p:spPr>
        <p:txBody>
          <a:bodyPr/>
          <a:lstStyle/>
          <a:p>
            <a:endParaRPr lang="zh-CN" altLang="en-US"/>
          </a:p>
        </p:txBody>
      </p:sp>
      <p:sp>
        <p:nvSpPr>
          <p:cNvPr id="3" name="Text 1"/>
          <p:cNvSpPr/>
          <p:nvPr/>
        </p:nvSpPr>
        <p:spPr>
          <a:xfrm>
            <a:off x="411480" y="292608"/>
            <a:ext cx="7680960" cy="310896"/>
          </a:xfrm>
          <a:prstGeom prst="rect">
            <a:avLst/>
          </a:prstGeom>
          <a:noFill/>
          <a:ln/>
        </p:spPr>
        <p:txBody>
          <a:bodyPr wrap="square" lIns="0" tIns="0" rIns="0" bIns="0" rtlCol="0" anchor="ctr"/>
          <a:lstStyle/>
          <a:p>
            <a:pPr marL="0" indent="0">
              <a:buNone/>
            </a:pPr>
            <a:r>
              <a:rPr lang="en-US" sz="2000" b="1" dirty="0">
                <a:solidFill>
                  <a:srgbClr val="172238"/>
                </a:solidFill>
                <a:latin typeface="Arial" pitchFamily="34" charset="0"/>
                <a:ea typeface="Arial" pitchFamily="34" charset="-122"/>
                <a:cs typeface="Arial" pitchFamily="34" charset="-120"/>
              </a:rPr>
              <a:t>Self-learning and project management</a:t>
            </a:r>
            <a:endParaRPr lang="en-US" sz="2000" dirty="0"/>
          </a:p>
        </p:txBody>
      </p:sp>
      <p:sp>
        <p:nvSpPr>
          <p:cNvPr id="4" name="Text 2"/>
          <p:cNvSpPr/>
          <p:nvPr/>
        </p:nvSpPr>
        <p:spPr>
          <a:xfrm>
            <a:off x="411480" y="685800"/>
            <a:ext cx="7772400" cy="256032"/>
          </a:xfrm>
          <a:prstGeom prst="rect">
            <a:avLst/>
          </a:prstGeom>
          <a:noFill/>
          <a:ln/>
        </p:spPr>
        <p:txBody>
          <a:bodyPr wrap="square" lIns="0" tIns="0" rIns="0" bIns="0" rtlCol="0" anchor="ctr"/>
          <a:lstStyle/>
          <a:p>
            <a:pPr marL="0" indent="0">
              <a:buNone/>
            </a:pPr>
            <a:endParaRPr lang="en-US" sz="850" dirty="0"/>
          </a:p>
        </p:txBody>
      </p:sp>
      <p:sp>
        <p:nvSpPr>
          <p:cNvPr id="5" name="Text 3"/>
          <p:cNvSpPr/>
          <p:nvPr/>
        </p:nvSpPr>
        <p:spPr>
          <a:xfrm>
            <a:off x="411480" y="6446520"/>
            <a:ext cx="3749040" cy="146304"/>
          </a:xfrm>
          <a:prstGeom prst="rect">
            <a:avLst/>
          </a:prstGeom>
          <a:noFill/>
          <a:ln/>
        </p:spPr>
        <p:txBody>
          <a:bodyPr wrap="square" lIns="0" tIns="0" rIns="0" bIns="0" rtlCol="0" anchor="ctr"/>
          <a:lstStyle/>
          <a:p>
            <a:pPr marL="0" indent="0">
              <a:buNone/>
            </a:pPr>
            <a:r>
              <a:rPr lang="en-US" sz="580" dirty="0">
                <a:solidFill>
                  <a:srgbClr val="8A98AD"/>
                </a:solidFill>
              </a:rPr>
              <a:t>JRS Individual Presentation | Zhao Yikai</a:t>
            </a:r>
            <a:endParaRPr lang="en-US" sz="580" dirty="0"/>
          </a:p>
        </p:txBody>
      </p:sp>
      <p:sp>
        <p:nvSpPr>
          <p:cNvPr id="6" name="Text 4"/>
          <p:cNvSpPr/>
          <p:nvPr/>
        </p:nvSpPr>
        <p:spPr>
          <a:xfrm>
            <a:off x="11722608" y="6446520"/>
            <a:ext cx="91440" cy="146304"/>
          </a:xfrm>
          <a:prstGeom prst="rect">
            <a:avLst/>
          </a:prstGeom>
          <a:noFill/>
          <a:ln/>
        </p:spPr>
        <p:txBody>
          <a:bodyPr wrap="square" lIns="0" tIns="0" rIns="0" bIns="0" rtlCol="0" anchor="ctr"/>
          <a:lstStyle/>
          <a:p>
            <a:pPr marL="0" indent="0" algn="r">
              <a:buNone/>
            </a:pPr>
            <a:r>
              <a:rPr lang="en-US" sz="550" dirty="0">
                <a:solidFill>
                  <a:srgbClr val="8A98AD"/>
                </a:solidFill>
              </a:rPr>
              <a:t>9</a:t>
            </a:r>
            <a:endParaRPr lang="en-US" sz="550" dirty="0"/>
          </a:p>
        </p:txBody>
      </p:sp>
      <p:sp>
        <p:nvSpPr>
          <p:cNvPr id="7" name="Shape 5"/>
          <p:cNvSpPr/>
          <p:nvPr/>
        </p:nvSpPr>
        <p:spPr>
          <a:xfrm>
            <a:off x="749808" y="1115568"/>
            <a:ext cx="5029200" cy="4343400"/>
          </a:xfrm>
          <a:prstGeom prst="roundRect">
            <a:avLst>
              <a:gd name="adj" fmla="val 1684"/>
            </a:avLst>
          </a:prstGeom>
          <a:solidFill>
            <a:srgbClr val="FFFFFF"/>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8" name="Shape 6"/>
          <p:cNvSpPr/>
          <p:nvPr/>
        </p:nvSpPr>
        <p:spPr>
          <a:xfrm>
            <a:off x="6419088" y="1115568"/>
            <a:ext cx="5029200" cy="4343400"/>
          </a:xfrm>
          <a:prstGeom prst="roundRect">
            <a:avLst>
              <a:gd name="adj" fmla="val 1684"/>
            </a:avLst>
          </a:prstGeom>
          <a:solidFill>
            <a:srgbClr val="FFFFFF"/>
          </a:solidFill>
          <a:ln w="12700">
            <a:solidFill>
              <a:srgbClr val="DCE4EF">
                <a:alpha val="85000"/>
              </a:srgbClr>
            </a:solidFill>
            <a:prstDash val="solid"/>
          </a:ln>
          <a:effectLst>
            <a:outerShdw blurRad="12700" dist="50800" dir="2700000" algn="bl" rotWithShape="0">
              <a:srgbClr val="DCE4EF">
                <a:alpha val="18000"/>
              </a:srgbClr>
            </a:outerShdw>
          </a:effectLst>
        </p:spPr>
        <p:txBody>
          <a:bodyPr/>
          <a:lstStyle/>
          <a:p>
            <a:endParaRPr lang="zh-CN" altLang="en-US"/>
          </a:p>
        </p:txBody>
      </p:sp>
      <p:sp>
        <p:nvSpPr>
          <p:cNvPr id="9" name="Text 7"/>
          <p:cNvSpPr/>
          <p:nvPr/>
        </p:nvSpPr>
        <p:spPr>
          <a:xfrm>
            <a:off x="1078992" y="1481328"/>
            <a:ext cx="1828800" cy="237744"/>
          </a:xfrm>
          <a:prstGeom prst="rect">
            <a:avLst/>
          </a:prstGeom>
          <a:noFill/>
          <a:ln/>
        </p:spPr>
        <p:txBody>
          <a:bodyPr wrap="square" lIns="0" tIns="0" rIns="0" bIns="0" rtlCol="0" anchor="ctr"/>
          <a:lstStyle/>
          <a:p>
            <a:pPr marL="0" indent="0">
              <a:buNone/>
            </a:pPr>
            <a:r>
              <a:rPr lang="en-US" sz="1600" b="1" dirty="0">
                <a:solidFill>
                  <a:srgbClr val="172238"/>
                </a:solidFill>
              </a:rPr>
              <a:t>Self-learning</a:t>
            </a:r>
            <a:endParaRPr lang="en-US" sz="1600" dirty="0"/>
          </a:p>
        </p:txBody>
      </p:sp>
      <p:sp>
        <p:nvSpPr>
          <p:cNvPr id="10" name="Shape 8"/>
          <p:cNvSpPr/>
          <p:nvPr/>
        </p:nvSpPr>
        <p:spPr>
          <a:xfrm>
            <a:off x="1097280" y="2011680"/>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11" name="Text 9"/>
          <p:cNvSpPr/>
          <p:nvPr/>
        </p:nvSpPr>
        <p:spPr>
          <a:xfrm>
            <a:off x="1298448" y="1965960"/>
            <a:ext cx="402336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How recruitment workflow parts connect</a:t>
            </a:r>
            <a:endParaRPr lang="en-US" sz="1000" dirty="0"/>
          </a:p>
        </p:txBody>
      </p:sp>
      <p:sp>
        <p:nvSpPr>
          <p:cNvPr id="12" name="Shape 10"/>
          <p:cNvSpPr/>
          <p:nvPr/>
        </p:nvSpPr>
        <p:spPr>
          <a:xfrm>
            <a:off x="1097280" y="2587752"/>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13" name="Text 11"/>
          <p:cNvSpPr/>
          <p:nvPr/>
        </p:nvSpPr>
        <p:spPr>
          <a:xfrm>
            <a:off x="1298448" y="2542032"/>
            <a:ext cx="402336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How to define clearer module boundaries</a:t>
            </a:r>
            <a:endParaRPr lang="en-US" sz="1000" dirty="0"/>
          </a:p>
        </p:txBody>
      </p:sp>
      <p:sp>
        <p:nvSpPr>
          <p:cNvPr id="14" name="Shape 12"/>
          <p:cNvSpPr/>
          <p:nvPr/>
        </p:nvSpPr>
        <p:spPr>
          <a:xfrm>
            <a:off x="1097280" y="3163824"/>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15" name="Text 13"/>
          <p:cNvSpPr/>
          <p:nvPr/>
        </p:nvSpPr>
        <p:spPr>
          <a:xfrm>
            <a:off x="1298448" y="3118104"/>
            <a:ext cx="402336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How to keep interface style consistent</a:t>
            </a:r>
            <a:endParaRPr lang="en-US" sz="1000" dirty="0"/>
          </a:p>
        </p:txBody>
      </p:sp>
      <p:sp>
        <p:nvSpPr>
          <p:cNvPr id="16" name="Shape 14"/>
          <p:cNvSpPr/>
          <p:nvPr/>
        </p:nvSpPr>
        <p:spPr>
          <a:xfrm>
            <a:off x="1097280" y="3739896"/>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17" name="Text 15"/>
          <p:cNvSpPr/>
          <p:nvPr/>
        </p:nvSpPr>
        <p:spPr>
          <a:xfrm>
            <a:off x="1298448" y="3694176"/>
            <a:ext cx="402336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How the prototype prepares for Part B</a:t>
            </a:r>
            <a:endParaRPr lang="en-US" sz="1000" dirty="0"/>
          </a:p>
        </p:txBody>
      </p:sp>
      <p:sp>
        <p:nvSpPr>
          <p:cNvPr id="18" name="Text 16"/>
          <p:cNvSpPr/>
          <p:nvPr/>
        </p:nvSpPr>
        <p:spPr>
          <a:xfrm>
            <a:off x="6748272" y="1481328"/>
            <a:ext cx="2286000" cy="237744"/>
          </a:xfrm>
          <a:prstGeom prst="rect">
            <a:avLst/>
          </a:prstGeom>
          <a:noFill/>
          <a:ln/>
        </p:spPr>
        <p:txBody>
          <a:bodyPr wrap="square" lIns="0" tIns="0" rIns="0" bIns="0" rtlCol="0" anchor="ctr"/>
          <a:lstStyle/>
          <a:p>
            <a:pPr marL="0" indent="0">
              <a:buNone/>
            </a:pPr>
            <a:r>
              <a:rPr lang="en-US" sz="1600" b="1" dirty="0">
                <a:solidFill>
                  <a:srgbClr val="172238"/>
                </a:solidFill>
              </a:rPr>
              <a:t>Project management</a:t>
            </a:r>
            <a:endParaRPr lang="en-US" sz="1600" dirty="0"/>
          </a:p>
        </p:txBody>
      </p:sp>
      <p:sp>
        <p:nvSpPr>
          <p:cNvPr id="19" name="Shape 17"/>
          <p:cNvSpPr/>
          <p:nvPr/>
        </p:nvSpPr>
        <p:spPr>
          <a:xfrm>
            <a:off x="6766560" y="2011680"/>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20" name="Text 18"/>
          <p:cNvSpPr/>
          <p:nvPr/>
        </p:nvSpPr>
        <p:spPr>
          <a:xfrm>
            <a:off x="6967728" y="1965960"/>
            <a:ext cx="402336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Team discussions helped refine scope</a:t>
            </a:r>
            <a:endParaRPr lang="en-US" sz="1000" dirty="0"/>
          </a:p>
        </p:txBody>
      </p:sp>
      <p:sp>
        <p:nvSpPr>
          <p:cNvPr id="21" name="Shape 19"/>
          <p:cNvSpPr/>
          <p:nvPr/>
        </p:nvSpPr>
        <p:spPr>
          <a:xfrm>
            <a:off x="6766560" y="2587752"/>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22" name="Text 20"/>
          <p:cNvSpPr/>
          <p:nvPr/>
        </p:nvSpPr>
        <p:spPr>
          <a:xfrm>
            <a:off x="6967728" y="2542032"/>
            <a:ext cx="402336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Supervisor feedback guided corrections</a:t>
            </a:r>
            <a:endParaRPr lang="en-US" sz="1000" dirty="0"/>
          </a:p>
        </p:txBody>
      </p:sp>
      <p:sp>
        <p:nvSpPr>
          <p:cNvPr id="23" name="Shape 21"/>
          <p:cNvSpPr/>
          <p:nvPr/>
        </p:nvSpPr>
        <p:spPr>
          <a:xfrm>
            <a:off x="6766560" y="3163824"/>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24" name="Text 22"/>
          <p:cNvSpPr/>
          <p:nvPr/>
        </p:nvSpPr>
        <p:spPr>
          <a:xfrm>
            <a:off x="6967728" y="3118104"/>
            <a:ext cx="402336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Early delivery allowed revision time</a:t>
            </a:r>
            <a:endParaRPr lang="en-US" sz="1000" dirty="0"/>
          </a:p>
        </p:txBody>
      </p:sp>
      <p:sp>
        <p:nvSpPr>
          <p:cNvPr id="25" name="Shape 23"/>
          <p:cNvSpPr/>
          <p:nvPr/>
        </p:nvSpPr>
        <p:spPr>
          <a:xfrm>
            <a:off x="6766560" y="3739896"/>
            <a:ext cx="100584" cy="100584"/>
          </a:xfrm>
          <a:prstGeom prst="ellipse">
            <a:avLst/>
          </a:prstGeom>
          <a:solidFill>
            <a:srgbClr val="316CEB"/>
          </a:solidFill>
          <a:ln w="12700">
            <a:solidFill>
              <a:srgbClr val="316CEB"/>
            </a:solidFill>
            <a:prstDash val="solid"/>
          </a:ln>
        </p:spPr>
        <p:txBody>
          <a:bodyPr/>
          <a:lstStyle/>
          <a:p>
            <a:endParaRPr lang="zh-CN" altLang="en-US"/>
          </a:p>
        </p:txBody>
      </p:sp>
      <p:sp>
        <p:nvSpPr>
          <p:cNvPr id="26" name="Text 24"/>
          <p:cNvSpPr/>
          <p:nvPr/>
        </p:nvSpPr>
        <p:spPr>
          <a:xfrm>
            <a:off x="6967728" y="3694176"/>
            <a:ext cx="4023360" cy="320040"/>
          </a:xfrm>
          <a:prstGeom prst="rect">
            <a:avLst/>
          </a:prstGeom>
          <a:noFill/>
          <a:ln/>
        </p:spPr>
        <p:txBody>
          <a:bodyPr wrap="square" lIns="0" tIns="0" rIns="0" bIns="0" rtlCol="0" anchor="ctr">
            <a:normAutofit/>
          </a:bodyPr>
          <a:lstStyle/>
          <a:p>
            <a:pPr marL="0" indent="0">
              <a:buNone/>
            </a:pPr>
            <a:r>
              <a:rPr lang="en-US" sz="1000" dirty="0">
                <a:solidFill>
                  <a:srgbClr val="172238"/>
                </a:solidFill>
              </a:rPr>
              <a:t>Final module is ready for database integration</a:t>
            </a:r>
            <a:endParaRPr lang="en-US" sz="1000" dirty="0"/>
          </a:p>
        </p:txBody>
      </p:sp>
      <p:sp>
        <p:nvSpPr>
          <p:cNvPr id="27" name="Shape 25"/>
          <p:cNvSpPr/>
          <p:nvPr/>
        </p:nvSpPr>
        <p:spPr>
          <a:xfrm>
            <a:off x="2788920" y="5806440"/>
            <a:ext cx="6583680" cy="438912"/>
          </a:xfrm>
          <a:prstGeom prst="roundRect">
            <a:avLst>
              <a:gd name="adj" fmla="val 25000"/>
            </a:avLst>
          </a:prstGeom>
          <a:solidFill>
            <a:srgbClr val="142138"/>
          </a:solidFill>
          <a:ln w="12700">
            <a:solidFill>
              <a:srgbClr val="142138"/>
            </a:solidFill>
            <a:prstDash val="solid"/>
          </a:ln>
        </p:spPr>
        <p:txBody>
          <a:bodyPr/>
          <a:lstStyle/>
          <a:p>
            <a:endParaRPr lang="zh-CN" altLang="en-US"/>
          </a:p>
        </p:txBody>
      </p:sp>
      <p:sp>
        <p:nvSpPr>
          <p:cNvPr id="28" name="Text 26"/>
          <p:cNvSpPr/>
          <p:nvPr/>
        </p:nvSpPr>
        <p:spPr>
          <a:xfrm>
            <a:off x="2926080" y="5961888"/>
            <a:ext cx="6309360" cy="146304"/>
          </a:xfrm>
          <a:prstGeom prst="rect">
            <a:avLst/>
          </a:prstGeom>
          <a:noFill/>
          <a:ln/>
        </p:spPr>
        <p:txBody>
          <a:bodyPr wrap="square" lIns="0" tIns="0" rIns="0" bIns="0" rtlCol="0" anchor="ctr"/>
          <a:lstStyle/>
          <a:p>
            <a:pPr marL="0" indent="0" algn="ctr">
              <a:buNone/>
            </a:pPr>
            <a:r>
              <a:rPr lang="en-US" sz="850" b="1" dirty="0">
                <a:solidFill>
                  <a:srgbClr val="FFFFFF"/>
                </a:solidFill>
              </a:rPr>
              <a:t>Part B goal: connect static pages to APIs, SQL data, authentication, and role-based access control.</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1130</Words>
  <Application>Microsoft Office PowerPoint</Application>
  <PresentationFormat>宽屏</PresentationFormat>
  <Paragraphs>104</Paragraphs>
  <Slides>9</Slides>
  <Notes>9</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9</vt:i4>
      </vt:variant>
    </vt:vector>
  </HeadingPairs>
  <TitlesOfParts>
    <vt:vector size="11" baseType="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JRS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JRS Notification Module &amp; HR Profile</dc:title>
  <dc:subject>JRS Individual Presentation</dc:subject>
  <dc:creator>OpenAI</dc:creator>
  <cp:lastModifiedBy>Yikai Zhao</cp:lastModifiedBy>
  <cp:revision>2</cp:revision>
  <dcterms:created xsi:type="dcterms:W3CDTF">2026-08-02T08:07:13Z</dcterms:created>
  <dcterms:modified xsi:type="dcterms:W3CDTF">2026-08-02T08:41:17Z</dcterms:modified>
</cp:coreProperties>
</file>