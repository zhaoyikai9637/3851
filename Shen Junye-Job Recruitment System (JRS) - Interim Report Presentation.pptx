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32518350" cy="1828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40" d="100"/>
          <a:sy n="40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657350" y="4495800"/>
            <a:ext cx="9105900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4D96E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COMP3851A - Computing and Information Sciences WIL</a:t>
            </a:r>
            <a:endParaRPr sz="2700" dirty="0"/>
          </a:p>
        </p:txBody>
      </p:sp>
      <p:sp>
        <p:nvSpPr>
          <p:cNvPr id="8" name="textbox 8"/>
          <p:cNvSpPr/>
          <p:nvPr/>
        </p:nvSpPr>
        <p:spPr>
          <a:xfrm>
            <a:off x="1238250" y="5838825"/>
            <a:ext cx="17202150" cy="1304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96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</a:t>
            </a:r>
            <a:endParaRPr sz="9600" dirty="0"/>
          </a:p>
        </p:txBody>
      </p:sp>
      <p:sp>
        <p:nvSpPr>
          <p:cNvPr id="10" name="textbox 10"/>
          <p:cNvSpPr/>
          <p:nvPr/>
        </p:nvSpPr>
        <p:spPr>
          <a:xfrm>
            <a:off x="1238250" y="7439025"/>
            <a:ext cx="1069657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0" b="1" kern="0" spc="0" dirty="0">
                <a:solidFill>
                  <a:srgbClr val="3ABAF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Interim Technical Report</a:t>
            </a:r>
            <a:endParaRPr sz="8000" dirty="0"/>
          </a:p>
        </p:txBody>
      </p:sp>
      <p:sp>
        <p:nvSpPr>
          <p:cNvPr id="12" name="textbox 12"/>
          <p:cNvSpPr/>
          <p:nvPr/>
        </p:nvSpPr>
        <p:spPr>
          <a:xfrm>
            <a:off x="1209675" y="9067800"/>
            <a:ext cx="20050125" cy="1238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centralized, web-based recruitment management solution streamlining end-to-end talent</a:t>
            </a:r>
            <a:endParaRPr sz="3700" dirty="0"/>
          </a:p>
          <a:p>
            <a:pPr algn="l" rtl="0" eaLnBrk="0">
              <a:spcBef>
                <a:spcPts val="1425"/>
              </a:spcBef>
            </a:pPr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acquisition, automated tracking, and secure corporate workflow management.</a:t>
            </a:r>
            <a:endParaRPr sz="3700" dirty="0"/>
          </a:p>
        </p:txBody>
      </p:sp>
      <p:sp>
        <p:nvSpPr>
          <p:cNvPr id="14" name="textbox 14"/>
          <p:cNvSpPr/>
          <p:nvPr/>
        </p:nvSpPr>
        <p:spPr>
          <a:xfrm>
            <a:off x="1238250" y="12230100"/>
            <a:ext cx="467677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44546A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STUDENT GROUP MEMBERS</a:t>
            </a:r>
            <a:endParaRPr sz="2400" dirty="0"/>
          </a:p>
        </p:txBody>
      </p:sp>
      <p:sp>
        <p:nvSpPr>
          <p:cNvPr id="16" name="textbox 16"/>
          <p:cNvSpPr/>
          <p:nvPr/>
        </p:nvSpPr>
        <p:spPr>
          <a:xfrm>
            <a:off x="12620625" y="12230100"/>
            <a:ext cx="39338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44546A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INDUSTRY SUPERVISOR</a:t>
            </a:r>
            <a:endParaRPr sz="2400" dirty="0"/>
          </a:p>
        </p:txBody>
      </p:sp>
      <p:sp>
        <p:nvSpPr>
          <p:cNvPr id="18" name="textbox 18"/>
          <p:cNvSpPr/>
          <p:nvPr/>
        </p:nvSpPr>
        <p:spPr>
          <a:xfrm>
            <a:off x="17526000" y="12230100"/>
            <a:ext cx="2181225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INSTITUTION</a:t>
            </a:r>
            <a:endParaRPr sz="2400" dirty="0"/>
          </a:p>
        </p:txBody>
      </p:sp>
      <p:sp>
        <p:nvSpPr>
          <p:cNvPr id="20" name="textbox 20"/>
          <p:cNvSpPr/>
          <p:nvPr/>
        </p:nvSpPr>
        <p:spPr>
          <a:xfrm>
            <a:off x="1238250" y="12858750"/>
            <a:ext cx="1046797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F2F2F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Zheng Chenjun, Si Huanjia, Shen Junye, Zhao Yikai, Yan Yibo</a:t>
            </a:r>
            <a:endParaRPr sz="2900" dirty="0"/>
          </a:p>
        </p:txBody>
      </p:sp>
      <p:sp>
        <p:nvSpPr>
          <p:cNvPr id="22" name="textbox 22"/>
          <p:cNvSpPr/>
          <p:nvPr/>
        </p:nvSpPr>
        <p:spPr>
          <a:xfrm>
            <a:off x="12620625" y="12858750"/>
            <a:ext cx="282892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Chenghong Low</a:t>
            </a:r>
            <a:endParaRPr sz="2700" dirty="0"/>
          </a:p>
        </p:txBody>
      </p:sp>
      <p:sp>
        <p:nvSpPr>
          <p:cNvPr id="24" name="textbox 24"/>
          <p:cNvSpPr/>
          <p:nvPr/>
        </p:nvSpPr>
        <p:spPr>
          <a:xfrm>
            <a:off x="17526000" y="12858750"/>
            <a:ext cx="7124700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b="1" kern="0" spc="0" dirty="0">
                <a:solidFill>
                  <a:srgbClr val="F2F2F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School of Computer &amp; Info Sciences, UON</a:t>
            </a:r>
            <a:endParaRPr sz="2900" dirty="0"/>
          </a:p>
        </p:txBody>
      </p:sp>
      <p:sp>
        <p:nvSpPr>
          <p:cNvPr id="26" name="textbox 26"/>
          <p:cNvSpPr/>
          <p:nvPr/>
        </p:nvSpPr>
        <p:spPr>
          <a:xfrm>
            <a:off x="1266825" y="17392650"/>
            <a:ext cx="6896100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58585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 - Interim Report</a:t>
            </a:r>
            <a:endParaRPr sz="2400" dirty="0"/>
          </a:p>
        </p:txBody>
      </p:sp>
      <p:sp>
        <p:nvSpPr>
          <p:cNvPr id="28" name="textbox 28"/>
          <p:cNvSpPr/>
          <p:nvPr/>
        </p:nvSpPr>
        <p:spPr>
          <a:xfrm>
            <a:off x="29394150" y="17392650"/>
            <a:ext cx="18192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Slide 1 of 20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285875" y="1238250"/>
            <a:ext cx="14468475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B1A2E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Industry Background &amp; </a:t>
            </a:r>
            <a:r>
              <a:rPr sz="6100" b="1" kern="0" spc="0" dirty="0">
                <a:solidFill>
                  <a:srgbClr val="1E50E6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Problem Context</a:t>
            </a:r>
            <a:endParaRPr sz="6100" dirty="0"/>
          </a:p>
        </p:txBody>
      </p:sp>
      <p:sp>
        <p:nvSpPr>
          <p:cNvPr id="36" name="textbox 36"/>
          <p:cNvSpPr/>
          <p:nvPr/>
        </p:nvSpPr>
        <p:spPr>
          <a:xfrm>
            <a:off x="2028825" y="3238500"/>
            <a:ext cx="849630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CC33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⚠ </a:t>
            </a:r>
            <a:r>
              <a:rPr sz="4300" kern="0" spc="0" dirty="0">
                <a:solidFill>
                  <a:srgbClr val="CC33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Legacy Recruitment Bottlenecks</a:t>
            </a:r>
            <a:endParaRPr sz="4300" dirty="0"/>
          </a:p>
        </p:txBody>
      </p:sp>
      <p:sp>
        <p:nvSpPr>
          <p:cNvPr id="38" name="textbox 38"/>
          <p:cNvSpPr/>
          <p:nvPr/>
        </p:nvSpPr>
        <p:spPr>
          <a:xfrm>
            <a:off x="17364075" y="3200400"/>
            <a:ext cx="8648700" cy="638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2060D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Security &amp; Process Vulnerabilities</a:t>
            </a:r>
            <a:endParaRPr sz="4300" dirty="0"/>
          </a:p>
        </p:txBody>
      </p:sp>
      <p:sp>
        <p:nvSpPr>
          <p:cNvPr id="40" name="textbox 40"/>
          <p:cNvSpPr/>
          <p:nvPr/>
        </p:nvSpPr>
        <p:spPr>
          <a:xfrm>
            <a:off x="1981200" y="4124325"/>
            <a:ext cx="12401550" cy="167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3626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Managing talent acquisition effectively is vital for enterprise growth.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53626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However, many contemporary client organizations still rely on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53626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fragmented, non-standardized channels:</a:t>
            </a:r>
            <a:endParaRPr sz="3200" dirty="0"/>
          </a:p>
        </p:txBody>
      </p:sp>
      <p:sp>
        <p:nvSpPr>
          <p:cNvPr id="42" name="textbox 42"/>
          <p:cNvSpPr/>
          <p:nvPr/>
        </p:nvSpPr>
        <p:spPr>
          <a:xfrm>
            <a:off x="17335500" y="4114800"/>
            <a:ext cx="11249025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Beyond operational sluggishness, ad-hoc manual recruitment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approaches introduce major security and compliance threats:</a:t>
            </a:r>
            <a:endParaRPr sz="3200" dirty="0"/>
          </a:p>
        </p:txBody>
      </p:sp>
      <p:sp>
        <p:nvSpPr>
          <p:cNvPr id="44" name="textbox 44"/>
          <p:cNvSpPr/>
          <p:nvPr/>
        </p:nvSpPr>
        <p:spPr>
          <a:xfrm>
            <a:off x="17364075" y="5600700"/>
            <a:ext cx="12201525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 PII Privacy Risks: </a:t>
            </a:r>
            <a:r>
              <a:rPr sz="3200" kern="0" spc="0" dirty="0">
                <a:solidFill>
                  <a:srgbClr val="3B444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Unencrypted resumes containing Personally</a:t>
            </a:r>
            <a:endParaRPr sz="3200" dirty="0"/>
          </a:p>
          <a:p>
            <a:pPr marL="723900"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B444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Identifiable Information stored on local drives.</a:t>
            </a:r>
            <a:endParaRPr sz="3200" dirty="0"/>
          </a:p>
        </p:txBody>
      </p:sp>
      <p:sp>
        <p:nvSpPr>
          <p:cNvPr id="46" name="textbox 46"/>
          <p:cNvSpPr/>
          <p:nvPr/>
        </p:nvSpPr>
        <p:spPr>
          <a:xfrm>
            <a:off x="1981200" y="6219825"/>
            <a:ext cx="13087350" cy="1066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E54C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Fragmented Threads: </a:t>
            </a:r>
            <a:r>
              <a:rPr sz="3200" kern="0" spc="0" dirty="0">
                <a:solidFill>
                  <a:srgbClr val="32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Non-standardized email exchanges and local</a:t>
            </a:r>
            <a:endParaRPr sz="3200" dirty="0"/>
          </a:p>
          <a:p>
            <a:pPr marL="685800" algn="l" rtl="0" eaLnBrk="0">
              <a:spcBef>
                <a:spcPts val="1275"/>
              </a:spcBef>
            </a:pPr>
            <a:r>
              <a:rPr sz="3200" kern="0" spc="0" dirty="0">
                <a:solidFill>
                  <a:srgbClr val="32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spreadsheet tracking.</a:t>
            </a:r>
            <a:endParaRPr sz="3200" dirty="0"/>
          </a:p>
        </p:txBody>
      </p:sp>
      <p:sp>
        <p:nvSpPr>
          <p:cNvPr id="48" name="textbox 48"/>
          <p:cNvSpPr/>
          <p:nvPr/>
        </p:nvSpPr>
        <p:spPr>
          <a:xfrm>
            <a:off x="1981200" y="7734300"/>
            <a:ext cx="11630025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E54C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Silos: </a:t>
            </a:r>
            <a:r>
              <a:rPr sz="32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Information remains isolated across department</a:t>
            </a:r>
            <a:endParaRPr sz="3200" dirty="0"/>
          </a:p>
          <a:p>
            <a:pPr marL="714375"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boundaries.</a:t>
            </a:r>
            <a:endParaRPr sz="3200" dirty="0"/>
          </a:p>
        </p:txBody>
      </p:sp>
      <p:sp>
        <p:nvSpPr>
          <p:cNvPr id="50" name="textbox 50"/>
          <p:cNvSpPr/>
          <p:nvPr/>
        </p:nvSpPr>
        <p:spPr>
          <a:xfrm>
            <a:off x="1981200" y="9286875"/>
            <a:ext cx="12011025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CE38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1420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Communication Delays: </a:t>
            </a:r>
            <a:r>
              <a:rPr sz="3200" kern="0" spc="0" dirty="0">
                <a:solidFill>
                  <a:srgbClr val="1420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Slow feedback loops between hiring</a:t>
            </a:r>
            <a:endParaRPr sz="3200" dirty="0"/>
          </a:p>
          <a:p>
            <a:pPr marL="714375"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14203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managers and applicants.</a:t>
            </a:r>
            <a:endParaRPr sz="3200" dirty="0"/>
          </a:p>
        </p:txBody>
      </p:sp>
      <p:sp>
        <p:nvSpPr>
          <p:cNvPr id="52" name="textbox 52"/>
          <p:cNvSpPr/>
          <p:nvPr/>
        </p:nvSpPr>
        <p:spPr>
          <a:xfrm>
            <a:off x="17364075" y="7134225"/>
            <a:ext cx="12915900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Version Control Chaos: </a:t>
            </a: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Static document attachments prevent real-</a:t>
            </a:r>
            <a:endParaRPr sz="3200" dirty="0"/>
          </a:p>
          <a:p>
            <a:pPr marL="723900"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 synchronization of candidate records.</a:t>
            </a:r>
            <a:endParaRPr sz="3200" dirty="0"/>
          </a:p>
        </p:txBody>
      </p:sp>
      <p:sp>
        <p:nvSpPr>
          <p:cNvPr id="54" name="textbox 54"/>
          <p:cNvSpPr/>
          <p:nvPr/>
        </p:nvSpPr>
        <p:spPr>
          <a:xfrm>
            <a:off x="17364075" y="8667750"/>
            <a:ext cx="12982575" cy="1704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549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© The JRS Solution Goal: </a:t>
            </a:r>
            <a:r>
              <a:rPr sz="3200" kern="0" spc="0" dirty="0">
                <a:solidFill>
                  <a:srgbClr val="3446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centralized, web-based platform unifying</a:t>
            </a:r>
            <a:endParaRPr sz="3200" dirty="0"/>
          </a:p>
          <a:p>
            <a:pPr marL="752475"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446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end-to-end recruitment workflows from job posting to offer</a:t>
            </a:r>
            <a:endParaRPr sz="3200" dirty="0"/>
          </a:p>
          <a:p>
            <a:pPr marL="685800"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446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generation.</a:t>
            </a:r>
            <a:endParaRPr sz="3200" dirty="0"/>
          </a:p>
        </p:txBody>
      </p:sp>
      <p:sp>
        <p:nvSpPr>
          <p:cNvPr id="56" name="textbox 56"/>
          <p:cNvSpPr/>
          <p:nvPr/>
        </p:nvSpPr>
        <p:spPr>
          <a:xfrm>
            <a:off x="1981200" y="10810875"/>
            <a:ext cx="1232535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E54C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✗ </a:t>
            </a:r>
            <a:r>
              <a:rPr sz="3200" b="1" kern="0" spc="0" dirty="0">
                <a:solidFill>
                  <a:srgbClr val="18171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Inconsistent Evaluation: </a:t>
            </a:r>
            <a:r>
              <a:rPr sz="3200" kern="0" spc="0" dirty="0">
                <a:solidFill>
                  <a:srgbClr val="2E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Lack of unified grading criteria across</a:t>
            </a:r>
            <a:endParaRPr sz="3200" dirty="0"/>
          </a:p>
          <a:p>
            <a:pPr marL="685800" algn="l" rtl="0" eaLnBrk="0">
              <a:spcBef>
                <a:spcPts val="975"/>
              </a:spcBef>
            </a:pPr>
            <a:r>
              <a:rPr sz="3200" kern="0" spc="0" dirty="0">
                <a:solidFill>
                  <a:srgbClr val="2E3E4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recruiters.</a:t>
            </a:r>
            <a:endParaRPr sz="3200" dirty="0"/>
          </a:p>
        </p:txBody>
      </p:sp>
      <p:sp>
        <p:nvSpPr>
          <p:cNvPr id="58" name="textbox 58"/>
          <p:cNvSpPr/>
          <p:nvPr/>
        </p:nvSpPr>
        <p:spPr>
          <a:xfrm>
            <a:off x="1266825" y="17411700"/>
            <a:ext cx="44767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Project Background &amp; Context</a:t>
            </a:r>
            <a:endParaRPr sz="2400" dirty="0"/>
          </a:p>
        </p:txBody>
      </p:sp>
      <p:sp>
        <p:nvSpPr>
          <p:cNvPr id="60" name="textbox 60"/>
          <p:cNvSpPr/>
          <p:nvPr/>
        </p:nvSpPr>
        <p:spPr>
          <a:xfrm>
            <a:off x="29365575" y="17411700"/>
            <a:ext cx="18478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2 of 20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6" name="textbox 66"/>
          <p:cNvSpPr/>
          <p:nvPr/>
        </p:nvSpPr>
        <p:spPr>
          <a:xfrm>
            <a:off x="1266825" y="1209675"/>
            <a:ext cx="11839575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B1A2E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Project Motivation &amp; </a:t>
            </a:r>
            <a:r>
              <a:rPr sz="6100" b="1" kern="0" spc="0" dirty="0">
                <a:solidFill>
                  <a:srgbClr val="1E50F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Drivers</a:t>
            </a:r>
            <a:endParaRPr sz="6100" dirty="0"/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457575"/>
            <a:ext cx="819150" cy="619125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600" y="3438525"/>
            <a:ext cx="619125" cy="638175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36150" y="3438525"/>
            <a:ext cx="647700" cy="638175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1885950" y="4867275"/>
            <a:ext cx="529590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Internal Talent Growth</a:t>
            </a:r>
            <a:endParaRPr sz="4300" dirty="0"/>
          </a:p>
        </p:txBody>
      </p:sp>
      <p:sp>
        <p:nvSpPr>
          <p:cNvPr id="82" name="textbox 82"/>
          <p:cNvSpPr/>
          <p:nvPr/>
        </p:nvSpPr>
        <p:spPr>
          <a:xfrm>
            <a:off x="12068175" y="4867275"/>
            <a:ext cx="682942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A1A2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Reduced Time-To-Hire (TTH)</a:t>
            </a:r>
            <a:endParaRPr sz="4300" dirty="0"/>
          </a:p>
        </p:txBody>
      </p:sp>
      <p:sp>
        <p:nvSpPr>
          <p:cNvPr id="84" name="textbox 84"/>
          <p:cNvSpPr/>
          <p:nvPr/>
        </p:nvSpPr>
        <p:spPr>
          <a:xfrm>
            <a:off x="22212300" y="4867275"/>
            <a:ext cx="5686425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 Transparency</a:t>
            </a:r>
            <a:endParaRPr sz="4300" dirty="0"/>
          </a:p>
        </p:txBody>
      </p:sp>
      <p:sp>
        <p:nvSpPr>
          <p:cNvPr id="86" name="textbox 86"/>
          <p:cNvSpPr/>
          <p:nvPr/>
        </p:nvSpPr>
        <p:spPr>
          <a:xfrm>
            <a:off x="1885950" y="5762625"/>
            <a:ext cx="7772400" cy="284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Establishes an organized, internal talent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acquisition process that empowers client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organizations to facilitate internal mobility,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retain key staff, and build structured talent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pipelines efficiently.</a:t>
            </a:r>
            <a:endParaRPr sz="2900" dirty="0"/>
          </a:p>
        </p:txBody>
      </p:sp>
      <p:sp>
        <p:nvSpPr>
          <p:cNvPr id="88" name="textbox 88"/>
          <p:cNvSpPr/>
          <p:nvPr/>
        </p:nvSpPr>
        <p:spPr>
          <a:xfrm>
            <a:off x="12030075" y="5762625"/>
            <a:ext cx="7839075" cy="280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Automates application screening,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documentation, and status updates,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significantly slashing administrative costs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and shortening overall hiring lifecycles for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HR teams.</a:t>
            </a:r>
            <a:endParaRPr sz="2900" dirty="0"/>
          </a:p>
        </p:txBody>
      </p:sp>
      <p:sp>
        <p:nvSpPr>
          <p:cNvPr id="90" name="textbox 90"/>
          <p:cNvSpPr/>
          <p:nvPr/>
        </p:nvSpPr>
        <p:spPr>
          <a:xfrm>
            <a:off x="22212300" y="5762625"/>
            <a:ext cx="8353425" cy="2266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Demystifies the opaque hiring process by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offering candidates a dedicated user portal to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register, build modular profiles, track job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status, and manage resumes dynamically.</a:t>
            </a:r>
            <a:endParaRPr sz="3200" dirty="0"/>
          </a:p>
        </p:txBody>
      </p:sp>
      <p:sp>
        <p:nvSpPr>
          <p:cNvPr id="92" name="textbox 92"/>
          <p:cNvSpPr/>
          <p:nvPr/>
        </p:nvSpPr>
        <p:spPr>
          <a:xfrm>
            <a:off x="1266825" y="17411700"/>
            <a:ext cx="29908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Strategic Motivation</a:t>
            </a:r>
            <a:endParaRPr sz="2700" dirty="0"/>
          </a:p>
        </p:txBody>
      </p:sp>
      <p:sp>
        <p:nvSpPr>
          <p:cNvPr id="94" name="textbox 94"/>
          <p:cNvSpPr/>
          <p:nvPr/>
        </p:nvSpPr>
        <p:spPr>
          <a:xfrm>
            <a:off x="29365575" y="17411700"/>
            <a:ext cx="184785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99999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3 of 20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1238250" y="1209675"/>
            <a:ext cx="15544800" cy="85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0E1927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Industry Solutions &amp; </a:t>
            </a:r>
            <a:r>
              <a:rPr sz="5900" b="1" kern="0" spc="0" dirty="0">
                <a:solidFill>
                  <a:srgbClr val="1E50E6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Comparative Rationale</a:t>
            </a:r>
            <a:endParaRPr sz="5900" dirty="0"/>
          </a:p>
        </p:txBody>
      </p:sp>
      <p:graphicFrame>
        <p:nvGraphicFramePr>
          <p:cNvPr id="102" name="table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145193"/>
              </p:ext>
            </p:extLst>
          </p:nvPr>
        </p:nvGraphicFramePr>
        <p:xfrm>
          <a:off x="1304925" y="2543175"/>
          <a:ext cx="29851350" cy="7239000"/>
        </p:xfrm>
        <a:graphic>
          <a:graphicData uri="http://schemas.openxmlformats.org/drawingml/2006/table">
            <a:tbl>
              <a:tblPr/>
              <a:tblGrid>
                <a:gridCol w="6543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8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91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52525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Evaluation Vector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Enterprise ATS (Workday, Taleo)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Manual / Ad–Hoc (Excel, Email)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Proposed JRS Platform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Financial Cost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Extremely expensive licensing fees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Zero initial software cost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136832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Cost–Effective &amp;In–House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System Complexity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200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Overly complex,bloated features</a:t>
                      </a:r>
                      <a:endParaRPr sz="22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Unstructured,error–prone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b="1" kern="0" spc="0" dirty="0">
                          <a:solidFill>
                            <a:srgbClr val="16379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Streamlined &amp;Purpose–Built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Customizability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Rigid SaaS structures,hard to adapt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None;manual manipulation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500" b="1" kern="0" spc="0" dirty="0">
                          <a:solidFill>
                            <a:srgbClr val="16379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Tailored to Client Processes</a:t>
                      </a:r>
                      <a:endParaRPr sz="25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Data Privacy &amp;PII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High compliance,but third–party hosted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500" b="1" kern="0" spc="0" dirty="0">
                          <a:solidFill>
                            <a:srgbClr val="944FC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High Security &amp;Privacy Risk</a:t>
                      </a:r>
                      <a:endParaRPr sz="25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500" b="1" kern="0" spc="0" dirty="0">
                          <a:solidFill>
                            <a:srgbClr val="18605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RBAC &amp;Hashed PII Security</a:t>
                      </a:r>
                      <a:endParaRPr sz="25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9675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2C4255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Collaboration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Siloed by expensive user tiers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5516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Version control chaos across inbox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b="1" kern="0" spc="0" dirty="0">
                          <a:solidFill>
                            <a:srgbClr val="18605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Real–Time Sync for HR &amp;Managers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4" name="textbox 104"/>
          <p:cNvSpPr/>
          <p:nvPr/>
        </p:nvSpPr>
        <p:spPr>
          <a:xfrm>
            <a:off x="1200150" y="10258425"/>
            <a:ext cx="29622750" cy="981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i="1" kern="0" spc="0" dirty="0">
                <a:solidFill>
                  <a:srgbClr val="77849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Conclusion: </a:t>
            </a:r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JRS bridges the critical gap between overly complex enterprise software and insecure manual spreadsheets by offering an automated, tailor-fit recruitment management</a:t>
            </a:r>
            <a:endParaRPr sz="2700" dirty="0"/>
          </a:p>
          <a:p>
            <a:pPr algn="l" rtl="0" eaLnBrk="0">
              <a:spcBef>
                <a:spcPts val="750"/>
              </a:spcBef>
            </a:pPr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portal.</a:t>
            </a:r>
            <a:endParaRPr sz="2700" dirty="0"/>
          </a:p>
        </p:txBody>
      </p:sp>
      <p:sp>
        <p:nvSpPr>
          <p:cNvPr id="106" name="textbox 106"/>
          <p:cNvSpPr/>
          <p:nvPr/>
        </p:nvSpPr>
        <p:spPr>
          <a:xfrm>
            <a:off x="1266825" y="17411700"/>
            <a:ext cx="40957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Market Analysis &amp; Rationale</a:t>
            </a:r>
            <a:endParaRPr sz="2400" dirty="0"/>
          </a:p>
        </p:txBody>
      </p:sp>
      <p:sp>
        <p:nvSpPr>
          <p:cNvPr id="108" name="textbox 108"/>
          <p:cNvSpPr/>
          <p:nvPr/>
        </p:nvSpPr>
        <p:spPr>
          <a:xfrm>
            <a:off x="29327475" y="17411700"/>
            <a:ext cx="188595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99999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4 of 20</a:t>
            </a:r>
            <a:endParaRPr sz="2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14" name="textbox 114"/>
          <p:cNvSpPr/>
          <p:nvPr/>
        </p:nvSpPr>
        <p:spPr>
          <a:xfrm>
            <a:off x="1304925" y="1238250"/>
            <a:ext cx="15497175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B1A2E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Project Feasibility &amp; </a:t>
            </a:r>
            <a:r>
              <a:rPr sz="6100" b="1" kern="0" spc="0" dirty="0">
                <a:solidFill>
                  <a:srgbClr val="206DC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240-Hour Time Budget</a:t>
            </a:r>
            <a:endParaRPr sz="6100" dirty="0"/>
          </a:p>
        </p:txBody>
      </p:sp>
      <p:sp>
        <p:nvSpPr>
          <p:cNvPr id="116" name="textbox 116"/>
          <p:cNvSpPr/>
          <p:nvPr/>
        </p:nvSpPr>
        <p:spPr>
          <a:xfrm>
            <a:off x="1209675" y="2600325"/>
            <a:ext cx="2880360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project feasibility was proven achievable within the mandatory </a:t>
            </a:r>
            <a:r>
              <a:rPr sz="3200" b="1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240-hour timeline</a:t>
            </a: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by defining a tightly bounded functional scope and managing tasks via a</a:t>
            </a:r>
            <a:endParaRPr sz="3200" dirty="0"/>
          </a:p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structured Work Breakdown Structure (WBS).</a:t>
            </a:r>
            <a:endParaRPr sz="3200" dirty="0"/>
          </a:p>
        </p:txBody>
      </p:sp>
      <p:sp>
        <p:nvSpPr>
          <p:cNvPr id="118" name="textbox 118"/>
          <p:cNvSpPr/>
          <p:nvPr/>
        </p:nvSpPr>
        <p:spPr>
          <a:xfrm>
            <a:off x="3219450" y="5067300"/>
            <a:ext cx="328612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ABBF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 hrs</a:t>
            </a:r>
            <a:endParaRPr sz="8500" dirty="0"/>
          </a:p>
        </p:txBody>
      </p:sp>
      <p:sp>
        <p:nvSpPr>
          <p:cNvPr id="120" name="textbox 120"/>
          <p:cNvSpPr/>
          <p:nvPr/>
        </p:nvSpPr>
        <p:spPr>
          <a:xfrm>
            <a:off x="10829925" y="5067300"/>
            <a:ext cx="324802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7BDF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 hrs</a:t>
            </a:r>
            <a:endParaRPr sz="8500" dirty="0"/>
          </a:p>
        </p:txBody>
      </p:sp>
      <p:sp>
        <p:nvSpPr>
          <p:cNvPr id="122" name="textbox 122"/>
          <p:cNvSpPr/>
          <p:nvPr/>
        </p:nvSpPr>
        <p:spPr>
          <a:xfrm>
            <a:off x="18116550" y="5067300"/>
            <a:ext cx="3829050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9BBF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 hrs</a:t>
            </a:r>
            <a:endParaRPr sz="8500" dirty="0"/>
          </a:p>
        </p:txBody>
      </p:sp>
      <p:sp>
        <p:nvSpPr>
          <p:cNvPr id="124" name="textbox 124"/>
          <p:cNvSpPr/>
          <p:nvPr/>
        </p:nvSpPr>
        <p:spPr>
          <a:xfrm>
            <a:off x="25984200" y="5067300"/>
            <a:ext cx="334327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500" b="1" kern="0" spc="0" dirty="0">
                <a:solidFill>
                  <a:srgbClr val="39BCF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40 hrs</a:t>
            </a:r>
            <a:endParaRPr sz="8500" dirty="0"/>
          </a:p>
        </p:txBody>
      </p:sp>
      <p:sp>
        <p:nvSpPr>
          <p:cNvPr id="126" name="textbox 126"/>
          <p:cNvSpPr/>
          <p:nvPr/>
        </p:nvSpPr>
        <p:spPr>
          <a:xfrm>
            <a:off x="2466975" y="6324600"/>
            <a:ext cx="4781550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D0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Requirements &amp; HCI Design</a:t>
            </a:r>
            <a:endParaRPr sz="2700" dirty="0"/>
          </a:p>
        </p:txBody>
      </p:sp>
      <p:sp>
        <p:nvSpPr>
          <p:cNvPr id="128" name="textbox 128"/>
          <p:cNvSpPr/>
          <p:nvPr/>
        </p:nvSpPr>
        <p:spPr>
          <a:xfrm>
            <a:off x="10344150" y="6324600"/>
            <a:ext cx="425767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D0CEC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 &amp; Database</a:t>
            </a:r>
            <a:endParaRPr sz="2700" dirty="0"/>
          </a:p>
        </p:txBody>
      </p:sp>
      <p:sp>
        <p:nvSpPr>
          <p:cNvPr id="130" name="textbox 130"/>
          <p:cNvSpPr/>
          <p:nvPr/>
        </p:nvSpPr>
        <p:spPr>
          <a:xfrm>
            <a:off x="17983200" y="6324600"/>
            <a:ext cx="416242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D6DC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Full-Stack Development</a:t>
            </a:r>
            <a:endParaRPr sz="2900" dirty="0"/>
          </a:p>
        </p:txBody>
      </p:sp>
      <p:sp>
        <p:nvSpPr>
          <p:cNvPr id="132" name="textbox 132"/>
          <p:cNvSpPr/>
          <p:nvPr/>
        </p:nvSpPr>
        <p:spPr>
          <a:xfrm>
            <a:off x="25984200" y="6324600"/>
            <a:ext cx="33432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D6DCE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Testing, QA &amp; Docs</a:t>
            </a:r>
            <a:endParaRPr sz="2900" dirty="0"/>
          </a:p>
        </p:txBody>
      </p:sp>
      <p:sp>
        <p:nvSpPr>
          <p:cNvPr id="134" name="textbox 134"/>
          <p:cNvSpPr/>
          <p:nvPr/>
        </p:nvSpPr>
        <p:spPr>
          <a:xfrm>
            <a:off x="1885950" y="8391525"/>
            <a:ext cx="8134350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Structured Project Governance Mechanisms:</a:t>
            </a:r>
            <a:endParaRPr sz="2900" dirty="0"/>
          </a:p>
        </p:txBody>
      </p:sp>
      <p:sp>
        <p:nvSpPr>
          <p:cNvPr id="136" name="textbox 136"/>
          <p:cNvSpPr/>
          <p:nvPr/>
        </p:nvSpPr>
        <p:spPr>
          <a:xfrm>
            <a:off x="1885950" y="9067800"/>
            <a:ext cx="118395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57200" indent="-457200" algn="l" rtl="0" eaLnBrk="0">
              <a:buChar char="•"/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Weekly Gantt chart updates to monitor task schedule variance.</a:t>
            </a:r>
            <a:endParaRPr sz="3200" dirty="0"/>
          </a:p>
        </p:txBody>
      </p:sp>
      <p:sp>
        <p:nvSpPr>
          <p:cNvPr id="138" name="textbox 138"/>
          <p:cNvSpPr/>
          <p:nvPr/>
        </p:nvSpPr>
        <p:spPr>
          <a:xfrm>
            <a:off x="16211550" y="9067800"/>
            <a:ext cx="112299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19100" indent="-419100" algn="l" rtl="0" eaLnBrk="0">
              <a:buChar char="•"/>
            </a:pPr>
            <a:r>
              <a:rPr sz="3200" kern="0" spc="0" dirty="0">
                <a:solidFill>
                  <a:srgbClr val="45516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 shared GitHub repository for source version control.</a:t>
            </a:r>
            <a:endParaRPr sz="3200" dirty="0"/>
          </a:p>
        </p:txBody>
      </p:sp>
      <p:sp>
        <p:nvSpPr>
          <p:cNvPr id="140" name="textbox 140"/>
          <p:cNvSpPr/>
          <p:nvPr/>
        </p:nvSpPr>
        <p:spPr>
          <a:xfrm>
            <a:off x="1885950" y="9915525"/>
            <a:ext cx="12401550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66725" indent="-466725" algn="l" rtl="0" eaLnBrk="0">
              <a:buChar char="•"/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Bi-weekly meeting minutes recorded and distributed to members.</a:t>
            </a:r>
            <a:endParaRPr sz="2900" dirty="0"/>
          </a:p>
        </p:txBody>
      </p:sp>
      <p:sp>
        <p:nvSpPr>
          <p:cNvPr id="142" name="textbox 142"/>
          <p:cNvSpPr/>
          <p:nvPr/>
        </p:nvSpPr>
        <p:spPr>
          <a:xfrm>
            <a:off x="16182975" y="9915525"/>
            <a:ext cx="1321117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447675" indent="-447675" algn="l" rtl="0" eaLnBrk="0">
              <a:buChar char="•"/>
            </a:pPr>
            <a:r>
              <a:rPr sz="3200" kern="0" spc="0" dirty="0">
                <a:solidFill>
                  <a:srgbClr val="5960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 functional scoping focused on dual-role authenticated modules.</a:t>
            </a:r>
            <a:endParaRPr sz="3200" dirty="0"/>
          </a:p>
        </p:txBody>
      </p:sp>
      <p:sp>
        <p:nvSpPr>
          <p:cNvPr id="144" name="textbox 144"/>
          <p:cNvSpPr/>
          <p:nvPr/>
        </p:nvSpPr>
        <p:spPr>
          <a:xfrm>
            <a:off x="1266825" y="17411700"/>
            <a:ext cx="503872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Resource &amp; Schedule Governance</a:t>
            </a:r>
            <a:endParaRPr sz="2400" dirty="0"/>
          </a:p>
        </p:txBody>
      </p:sp>
      <p:sp>
        <p:nvSpPr>
          <p:cNvPr id="146" name="textbox 146"/>
          <p:cNvSpPr/>
          <p:nvPr/>
        </p:nvSpPr>
        <p:spPr>
          <a:xfrm>
            <a:off x="29365575" y="17411700"/>
            <a:ext cx="18478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99999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5 of 20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52" name="textbox 152"/>
          <p:cNvSpPr/>
          <p:nvPr/>
        </p:nvSpPr>
        <p:spPr>
          <a:xfrm>
            <a:off x="1238250" y="1209675"/>
            <a:ext cx="14097000" cy="876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Team Technical Competence &amp; </a:t>
            </a:r>
            <a:r>
              <a:rPr sz="6400" b="1" kern="0" spc="0" dirty="0">
                <a:solidFill>
                  <a:srgbClr val="1E5DF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Synergy</a:t>
            </a:r>
            <a:endParaRPr sz="6400" dirty="0"/>
          </a:p>
        </p:txBody>
      </p:sp>
      <p:pic>
        <p:nvPicPr>
          <p:cNvPr id="156" name="picture 1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3419475"/>
            <a:ext cx="781050" cy="676275"/>
          </a:xfrm>
          <a:prstGeom prst="rect">
            <a:avLst/>
          </a:prstGeom>
        </p:spPr>
      </p:pic>
      <p:pic>
        <p:nvPicPr>
          <p:cNvPr id="160" name="picture 1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8675" y="3438525"/>
            <a:ext cx="876300" cy="638175"/>
          </a:xfrm>
          <a:prstGeom prst="rect">
            <a:avLst/>
          </a:prstGeom>
        </p:spPr>
      </p:pic>
      <p:pic>
        <p:nvPicPr>
          <p:cNvPr id="164" name="picture 1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36150" y="3438525"/>
            <a:ext cx="714375" cy="638175"/>
          </a:xfrm>
          <a:prstGeom prst="rect">
            <a:avLst/>
          </a:prstGeom>
        </p:spPr>
      </p:pic>
      <p:sp>
        <p:nvSpPr>
          <p:cNvPr id="166" name="textbox 166"/>
          <p:cNvSpPr/>
          <p:nvPr/>
        </p:nvSpPr>
        <p:spPr>
          <a:xfrm>
            <a:off x="1885950" y="4867275"/>
            <a:ext cx="661035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UI/UX Design &amp; Prototyping</a:t>
            </a:r>
            <a:endParaRPr sz="4300" dirty="0"/>
          </a:p>
        </p:txBody>
      </p:sp>
      <p:sp>
        <p:nvSpPr>
          <p:cNvPr id="168" name="textbox 168"/>
          <p:cNvSpPr/>
          <p:nvPr/>
        </p:nvSpPr>
        <p:spPr>
          <a:xfrm>
            <a:off x="12068175" y="4867275"/>
            <a:ext cx="58102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Architecture &amp; Modeling</a:t>
            </a:r>
            <a:endParaRPr sz="4000" dirty="0"/>
          </a:p>
        </p:txBody>
      </p:sp>
      <p:sp>
        <p:nvSpPr>
          <p:cNvPr id="170" name="textbox 170"/>
          <p:cNvSpPr/>
          <p:nvPr/>
        </p:nvSpPr>
        <p:spPr>
          <a:xfrm>
            <a:off x="22240875" y="4867275"/>
            <a:ext cx="5429250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&amp; Full-Stack</a:t>
            </a:r>
            <a:endParaRPr sz="4300" dirty="0"/>
          </a:p>
        </p:txBody>
      </p:sp>
      <p:sp>
        <p:nvSpPr>
          <p:cNvPr id="172" name="textbox 172"/>
          <p:cNvSpPr/>
          <p:nvPr/>
        </p:nvSpPr>
        <p:spPr>
          <a:xfrm>
            <a:off x="2600325" y="5762625"/>
            <a:ext cx="5867400" cy="495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54C5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Proficient in Figma prototyping.</a:t>
            </a:r>
            <a:endParaRPr sz="3200" dirty="0"/>
          </a:p>
        </p:txBody>
      </p:sp>
      <p:sp>
        <p:nvSpPr>
          <p:cNvPr id="174" name="textbox 174"/>
          <p:cNvSpPr/>
          <p:nvPr/>
        </p:nvSpPr>
        <p:spPr>
          <a:xfrm>
            <a:off x="12706350" y="5762625"/>
            <a:ext cx="64579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Mastery of UML standard notation.</a:t>
            </a:r>
            <a:endParaRPr sz="3200" dirty="0"/>
          </a:p>
        </p:txBody>
      </p:sp>
      <p:sp>
        <p:nvSpPr>
          <p:cNvPr id="176" name="textbox 176"/>
          <p:cNvSpPr/>
          <p:nvPr/>
        </p:nvSpPr>
        <p:spPr>
          <a:xfrm>
            <a:off x="22926675" y="5762625"/>
            <a:ext cx="71818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3NF Relational Database normalization.</a:t>
            </a:r>
            <a:endParaRPr sz="3200" dirty="0"/>
          </a:p>
        </p:txBody>
      </p:sp>
      <p:sp>
        <p:nvSpPr>
          <p:cNvPr id="178" name="textbox 178"/>
          <p:cNvSpPr/>
          <p:nvPr/>
        </p:nvSpPr>
        <p:spPr>
          <a:xfrm>
            <a:off x="2571750" y="6696075"/>
            <a:ext cx="669607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Modern UI engineering (component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variants, glass states).</a:t>
            </a:r>
            <a:endParaRPr sz="3200" dirty="0"/>
          </a:p>
        </p:txBody>
      </p:sp>
      <p:sp>
        <p:nvSpPr>
          <p:cNvPr id="180" name="textbox 180"/>
          <p:cNvSpPr/>
          <p:nvPr/>
        </p:nvSpPr>
        <p:spPr>
          <a:xfrm>
            <a:off x="12734925" y="6696075"/>
            <a:ext cx="61626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Case &amp; Sequence Diagrams.</a:t>
            </a:r>
            <a:endParaRPr sz="3200" dirty="0"/>
          </a:p>
        </p:txBody>
      </p:sp>
      <p:sp>
        <p:nvSpPr>
          <p:cNvPr id="182" name="textbox 182"/>
          <p:cNvSpPr/>
          <p:nvPr/>
        </p:nvSpPr>
        <p:spPr>
          <a:xfrm>
            <a:off x="22926675" y="6696075"/>
            <a:ext cx="73437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 Schema &amp; ER diagram engineering.</a:t>
            </a:r>
            <a:endParaRPr sz="3200" dirty="0"/>
          </a:p>
        </p:txBody>
      </p:sp>
      <p:sp>
        <p:nvSpPr>
          <p:cNvPr id="184" name="textbox 184"/>
          <p:cNvSpPr/>
          <p:nvPr/>
        </p:nvSpPr>
        <p:spPr>
          <a:xfrm>
            <a:off x="2543175" y="8248650"/>
            <a:ext cx="71818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Responsive wireframes matching user</a:t>
            </a:r>
            <a:endParaRPr sz="2900" dirty="0"/>
          </a:p>
          <a:p>
            <a:pPr algn="l" rtl="0" eaLnBrk="0">
              <a:spcBef>
                <a:spcPts val="975"/>
              </a:spcBef>
            </a:pPr>
            <a:r>
              <a:rPr sz="2900" kern="0" spc="0" dirty="0">
                <a:solidFill>
                  <a:srgbClr val="3F4D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mental models.</a:t>
            </a:r>
            <a:endParaRPr sz="2900" dirty="0"/>
          </a:p>
        </p:txBody>
      </p:sp>
      <p:sp>
        <p:nvSpPr>
          <p:cNvPr id="186" name="textbox 186"/>
          <p:cNvSpPr/>
          <p:nvPr/>
        </p:nvSpPr>
        <p:spPr>
          <a:xfrm>
            <a:off x="12049125" y="7658100"/>
            <a:ext cx="728662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3200" kern="0" dirty="0">
                <a:solidFill>
                  <a:srgbClr val="1E5CA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Machine &amp; Activity behavioral</a:t>
            </a:r>
            <a:endParaRPr sz="3200" dirty="0"/>
          </a:p>
          <a:p>
            <a:pPr marL="714375" algn="l" rtl="0" eaLnBrk="0">
              <a:spcBef>
                <a:spcPts val="975"/>
              </a:spcBef>
            </a:pP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modeling.</a:t>
            </a:r>
            <a:endParaRPr sz="3200" dirty="0"/>
          </a:p>
        </p:txBody>
      </p:sp>
      <p:sp>
        <p:nvSpPr>
          <p:cNvPr id="188" name="textbox 188"/>
          <p:cNvSpPr/>
          <p:nvPr/>
        </p:nvSpPr>
        <p:spPr>
          <a:xfrm>
            <a:off x="22212300" y="7658100"/>
            <a:ext cx="718185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3200" kern="0" dirty="0">
                <a:solidFill>
                  <a:srgbClr val="315E9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HTML5, CSS3 Flexbox, JavaScript,</a:t>
            </a:r>
            <a:endParaRPr sz="3200" dirty="0"/>
          </a:p>
          <a:p>
            <a:pPr marL="714375"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3E45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React.</a:t>
            </a:r>
            <a:endParaRPr sz="3200" dirty="0"/>
          </a:p>
        </p:txBody>
      </p:sp>
      <p:sp>
        <p:nvSpPr>
          <p:cNvPr id="190" name="textbox 190"/>
          <p:cNvSpPr/>
          <p:nvPr/>
        </p:nvSpPr>
        <p:spPr>
          <a:xfrm>
            <a:off x="1266825" y="17411700"/>
            <a:ext cx="29622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Team Qualifications</a:t>
            </a:r>
            <a:endParaRPr sz="2400" dirty="0"/>
          </a:p>
        </p:txBody>
      </p:sp>
      <p:sp>
        <p:nvSpPr>
          <p:cNvPr id="192" name="textbox 192"/>
          <p:cNvSpPr/>
          <p:nvPr/>
        </p:nvSpPr>
        <p:spPr>
          <a:xfrm>
            <a:off x="29365575" y="17411700"/>
            <a:ext cx="18859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6 of 20</a:t>
            </a:r>
            <a:endParaRPr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1314450" y="1238250"/>
            <a:ext cx="12439650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16164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Project Objectives </a:t>
            </a:r>
            <a:r>
              <a:rPr sz="64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(Aims A-E)</a:t>
            </a:r>
            <a:endParaRPr sz="6400" dirty="0"/>
          </a:p>
        </p:txBody>
      </p:sp>
      <p:sp>
        <p:nvSpPr>
          <p:cNvPr id="200" name="textbox 200"/>
          <p:cNvSpPr/>
          <p:nvPr/>
        </p:nvSpPr>
        <p:spPr>
          <a:xfrm>
            <a:off x="1790700" y="2728913"/>
            <a:ext cx="982027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A: Self-Registration &amp; Account Management</a:t>
            </a:r>
            <a:endParaRPr sz="3200" dirty="0"/>
          </a:p>
        </p:txBody>
      </p:sp>
      <p:sp>
        <p:nvSpPr>
          <p:cNvPr id="202" name="textbox 202"/>
          <p:cNvSpPr/>
          <p:nvPr/>
        </p:nvSpPr>
        <p:spPr>
          <a:xfrm>
            <a:off x="28679775" y="3295650"/>
            <a:ext cx="17621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04" name="textbox 204"/>
          <p:cNvSpPr/>
          <p:nvPr/>
        </p:nvSpPr>
        <p:spPr>
          <a:xfrm>
            <a:off x="1790700" y="3281362"/>
            <a:ext cx="1784985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latin typeface="Arial" panose="020B0604020202020204"/>
                <a:ea typeface="Arial" panose="020B0604020202020204"/>
                <a:cs typeface="Arial" panose="020B0604020202020204"/>
              </a:rPr>
              <a:t>Enables candidate registration, secure login, personal profile editing, career history, skills, and resume upload.</a:t>
            </a:r>
            <a:endParaRPr sz="2700" dirty="0"/>
          </a:p>
        </p:txBody>
      </p:sp>
      <p:sp>
        <p:nvSpPr>
          <p:cNvPr id="206" name="textbox 206"/>
          <p:cNvSpPr/>
          <p:nvPr/>
        </p:nvSpPr>
        <p:spPr>
          <a:xfrm>
            <a:off x="1828800" y="4913397"/>
            <a:ext cx="1117282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B: Job Application Submission &amp; Real-time Tracking</a:t>
            </a:r>
            <a:endParaRPr sz="3200" dirty="0"/>
          </a:p>
        </p:txBody>
      </p:sp>
      <p:sp>
        <p:nvSpPr>
          <p:cNvPr id="208" name="textbox 208"/>
          <p:cNvSpPr/>
          <p:nvPr/>
        </p:nvSpPr>
        <p:spPr>
          <a:xfrm>
            <a:off x="28679775" y="5448300"/>
            <a:ext cx="176212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700" dirty="0"/>
          </a:p>
        </p:txBody>
      </p:sp>
      <p:sp>
        <p:nvSpPr>
          <p:cNvPr id="210" name="textbox 210"/>
          <p:cNvSpPr/>
          <p:nvPr/>
        </p:nvSpPr>
        <p:spPr>
          <a:xfrm>
            <a:off x="1790700" y="5532522"/>
            <a:ext cx="18754725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6366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portal allowing candidates to search vacancies, submit applications directly, and view real-time status updates.</a:t>
            </a:r>
            <a:endParaRPr sz="2900" dirty="0"/>
          </a:p>
        </p:txBody>
      </p:sp>
      <p:sp>
        <p:nvSpPr>
          <p:cNvPr id="212" name="textbox 212"/>
          <p:cNvSpPr/>
          <p:nvPr/>
        </p:nvSpPr>
        <p:spPr>
          <a:xfrm>
            <a:off x="1790700" y="7075572"/>
            <a:ext cx="7734300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C: HR Job Vacancy Posting Engine</a:t>
            </a:r>
            <a:endParaRPr sz="3200" dirty="0"/>
          </a:p>
        </p:txBody>
      </p:sp>
      <p:sp>
        <p:nvSpPr>
          <p:cNvPr id="214" name="textbox 214"/>
          <p:cNvSpPr/>
          <p:nvPr/>
        </p:nvSpPr>
        <p:spPr>
          <a:xfrm>
            <a:off x="28679775" y="7610475"/>
            <a:ext cx="176212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16" name="textbox 216"/>
          <p:cNvSpPr/>
          <p:nvPr/>
        </p:nvSpPr>
        <p:spPr>
          <a:xfrm>
            <a:off x="1828800" y="7693194"/>
            <a:ext cx="186880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Centralized management hub for HR personnel to author new postings, edit active vacancies, and close filled roles.</a:t>
            </a:r>
            <a:endParaRPr sz="2700" dirty="0"/>
          </a:p>
        </p:txBody>
      </p:sp>
      <p:sp>
        <p:nvSpPr>
          <p:cNvPr id="218" name="textbox 218"/>
          <p:cNvSpPr/>
          <p:nvPr/>
        </p:nvSpPr>
        <p:spPr>
          <a:xfrm>
            <a:off x="1790700" y="9282112"/>
            <a:ext cx="91821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D: Candidate Review &amp; Status Dashboard</a:t>
            </a:r>
            <a:endParaRPr sz="3200" dirty="0"/>
          </a:p>
        </p:txBody>
      </p:sp>
      <p:sp>
        <p:nvSpPr>
          <p:cNvPr id="220" name="textbox 220"/>
          <p:cNvSpPr/>
          <p:nvPr/>
        </p:nvSpPr>
        <p:spPr>
          <a:xfrm>
            <a:off x="28679775" y="9782175"/>
            <a:ext cx="176212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0389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22" name="textbox 222"/>
          <p:cNvSpPr/>
          <p:nvPr/>
        </p:nvSpPr>
        <p:spPr>
          <a:xfrm>
            <a:off x="1790700" y="9786938"/>
            <a:ext cx="1970722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HR dashboard to evaluate applications and dynamically transition stages (In Progress, Rejected, Offer Issued, Accepted).</a:t>
            </a:r>
            <a:endParaRPr sz="2700" dirty="0"/>
          </a:p>
        </p:txBody>
      </p:sp>
      <p:sp>
        <p:nvSpPr>
          <p:cNvPr id="224" name="textbox 224"/>
          <p:cNvSpPr/>
          <p:nvPr/>
        </p:nvSpPr>
        <p:spPr>
          <a:xfrm>
            <a:off x="1790700" y="11358563"/>
            <a:ext cx="116109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Aim E: Automated Candidate Stage Progress Notifications</a:t>
            </a:r>
            <a:endParaRPr sz="3200" dirty="0"/>
          </a:p>
        </p:txBody>
      </p:sp>
      <p:sp>
        <p:nvSpPr>
          <p:cNvPr id="226" name="textbox 226"/>
          <p:cNvSpPr/>
          <p:nvPr/>
        </p:nvSpPr>
        <p:spPr>
          <a:xfrm>
            <a:off x="28679775" y="11944350"/>
            <a:ext cx="176212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419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 Progress</a:t>
            </a:r>
            <a:endParaRPr sz="2400" dirty="0"/>
          </a:p>
        </p:txBody>
      </p:sp>
      <p:sp>
        <p:nvSpPr>
          <p:cNvPr id="228" name="textbox 228"/>
          <p:cNvSpPr/>
          <p:nvPr/>
        </p:nvSpPr>
        <p:spPr>
          <a:xfrm>
            <a:off x="1828800" y="11938676"/>
            <a:ext cx="179355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System-wide notification service informing applicants automatically whenever HR advances their stage status.</a:t>
            </a:r>
            <a:endParaRPr sz="2700" dirty="0"/>
          </a:p>
        </p:txBody>
      </p:sp>
      <p:sp>
        <p:nvSpPr>
          <p:cNvPr id="230" name="textbox 230"/>
          <p:cNvSpPr/>
          <p:nvPr/>
        </p:nvSpPr>
        <p:spPr>
          <a:xfrm>
            <a:off x="1266825" y="17411700"/>
            <a:ext cx="319087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Functional Objectives</a:t>
            </a:r>
            <a:endParaRPr sz="2400" dirty="0"/>
          </a:p>
        </p:txBody>
      </p:sp>
      <p:sp>
        <p:nvSpPr>
          <p:cNvPr id="232" name="textbox 232"/>
          <p:cNvSpPr/>
          <p:nvPr/>
        </p:nvSpPr>
        <p:spPr>
          <a:xfrm>
            <a:off x="29365575" y="17411700"/>
            <a:ext cx="18478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99A8B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7 of 20</a:t>
            </a:r>
            <a:endParaRPr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08E1AD-444A-74BA-9906-DFFFDD69891C}"/>
              </a:ext>
            </a:extLst>
          </p:cNvPr>
          <p:cNvSpPr txBox="1"/>
          <p:nvPr/>
        </p:nvSpPr>
        <p:spPr>
          <a:xfrm>
            <a:off x="1635057" y="3729291"/>
            <a:ext cx="488389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Responsibility:Zheng Chen</a:t>
            </a:r>
            <a:r>
              <a:rPr lang="en-US" altLang="zh-CN" sz="2700" dirty="0"/>
              <a:t>j</a:t>
            </a:r>
            <a:r>
              <a:rPr lang="zh-CN" altLang="en-US" sz="2700" dirty="0"/>
              <a:t>un</a:t>
            </a:r>
            <a:endParaRPr lang="en-US" altLang="zh-CN" sz="27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6C0D66-406D-FEDB-7AA8-258A4D576DC2}"/>
              </a:ext>
            </a:extLst>
          </p:cNvPr>
          <p:cNvSpPr txBox="1"/>
          <p:nvPr/>
        </p:nvSpPr>
        <p:spPr>
          <a:xfrm>
            <a:off x="1266825" y="5969169"/>
            <a:ext cx="488186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Responsibility:</a:t>
            </a:r>
            <a:r>
              <a:rPr lang="en-US" altLang="zh-CN" sz="2700" dirty="0"/>
              <a:t>Si Huanjia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01E2CCA-C1FD-12C1-FE9F-8E602E9C3A26}"/>
              </a:ext>
            </a:extLst>
          </p:cNvPr>
          <p:cNvSpPr txBox="1"/>
          <p:nvPr/>
        </p:nvSpPr>
        <p:spPr>
          <a:xfrm>
            <a:off x="1768407" y="8155156"/>
            <a:ext cx="3878701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700" dirty="0"/>
              <a:t>Responsibility:</a:t>
            </a:r>
            <a:r>
              <a:rPr lang="en-US" altLang="zh-CN" sz="2700" dirty="0"/>
              <a:t>Yan Yibo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873665-04CA-B813-30A0-58218530B1AE}"/>
              </a:ext>
            </a:extLst>
          </p:cNvPr>
          <p:cNvSpPr txBox="1"/>
          <p:nvPr/>
        </p:nvSpPr>
        <p:spPr>
          <a:xfrm>
            <a:off x="1635057" y="10273590"/>
            <a:ext cx="46157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</a:t>
            </a:r>
            <a:r>
              <a:rPr lang="en-US" altLang="zh-CN" sz="2700" dirty="0"/>
              <a:t>:Shen Junye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252406-93A9-3881-0188-0970EF853160}"/>
              </a:ext>
            </a:extLst>
          </p:cNvPr>
          <p:cNvSpPr txBox="1"/>
          <p:nvPr/>
        </p:nvSpPr>
        <p:spPr>
          <a:xfrm>
            <a:off x="1613878" y="12411955"/>
            <a:ext cx="418775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700" dirty="0"/>
              <a:t>Responsibility:</a:t>
            </a:r>
            <a:r>
              <a:rPr lang="en-US" altLang="zh-CN" sz="2700" dirty="0"/>
              <a:t>Zhao Yikai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picture 2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238" name="textbox 238"/>
          <p:cNvSpPr/>
          <p:nvPr/>
        </p:nvSpPr>
        <p:spPr>
          <a:xfrm>
            <a:off x="876300" y="544971"/>
            <a:ext cx="15963900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21B22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Methodology 1: </a:t>
            </a:r>
            <a:r>
              <a:rPr sz="6100" b="1" kern="0" spc="0" dirty="0">
                <a:solidFill>
                  <a:srgbClr val="2060DA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HCI Prototyping &amp; UX Design</a:t>
            </a:r>
            <a:endParaRPr sz="6100" dirty="0"/>
          </a:p>
        </p:txBody>
      </p:sp>
      <p:sp>
        <p:nvSpPr>
          <p:cNvPr id="240" name="textbox 240"/>
          <p:cNvSpPr/>
          <p:nvPr/>
        </p:nvSpPr>
        <p:spPr>
          <a:xfrm>
            <a:off x="1266825" y="2940841"/>
            <a:ext cx="7591425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User-Centered Interaction Flow</a:t>
            </a:r>
            <a:endParaRPr sz="4300" dirty="0"/>
          </a:p>
        </p:txBody>
      </p:sp>
      <p:sp>
        <p:nvSpPr>
          <p:cNvPr id="242" name="textbox 242"/>
          <p:cNvSpPr/>
          <p:nvPr/>
        </p:nvSpPr>
        <p:spPr>
          <a:xfrm>
            <a:off x="1266825" y="4629147"/>
            <a:ext cx="1416367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team utilized </a:t>
            </a:r>
            <a:r>
              <a:rPr sz="3200" b="1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</a:t>
            </a:r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to design end-to-end user interaction flowcharts and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53585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high-fidelity wireframes mapped directly to user mental models.</a:t>
            </a:r>
            <a:endParaRPr sz="3200" dirty="0"/>
          </a:p>
        </p:txBody>
      </p:sp>
      <p:sp>
        <p:nvSpPr>
          <p:cNvPr id="244" name="textbox 244"/>
          <p:cNvSpPr/>
          <p:nvPr/>
        </p:nvSpPr>
        <p:spPr>
          <a:xfrm>
            <a:off x="1266825" y="6982157"/>
            <a:ext cx="13687425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HCI Heuristic Evaluation: </a:t>
            </a:r>
            <a:r>
              <a:rPr sz="3200" kern="0" spc="0" dirty="0">
                <a:solidFill>
                  <a:srgbClr val="2A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Applied principles to minimize cognitive load</a:t>
            </a:r>
            <a:endParaRPr sz="3200" dirty="0"/>
          </a:p>
          <a:p>
            <a:pPr marL="685800" algn="l" rtl="0" eaLnBrk="0">
              <a:spcBef>
                <a:spcPts val="1275"/>
              </a:spcBef>
            </a:pPr>
            <a:r>
              <a:rPr sz="3200" kern="0" spc="0" dirty="0">
                <a:solidFill>
                  <a:srgbClr val="2A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during profile setup and job searching.</a:t>
            </a:r>
            <a:endParaRPr sz="3200" dirty="0"/>
          </a:p>
        </p:txBody>
      </p:sp>
      <p:sp>
        <p:nvSpPr>
          <p:cNvPr id="246" name="textbox 246"/>
          <p:cNvSpPr/>
          <p:nvPr/>
        </p:nvSpPr>
        <p:spPr>
          <a:xfrm>
            <a:off x="1266825" y="9218151"/>
            <a:ext cx="13392150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Responsive Multi-Platform Views: </a:t>
            </a:r>
            <a:r>
              <a:rPr sz="3200" kern="0" spc="0" dirty="0">
                <a:solidFill>
                  <a:srgbClr val="2D3D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Crafted distinct responsive layout</a:t>
            </a:r>
            <a:endParaRPr sz="3200" dirty="0"/>
          </a:p>
          <a:p>
            <a:pPr marL="685800"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2D3D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frames for desktop web and mobile devices.</a:t>
            </a:r>
            <a:endParaRPr sz="3200" dirty="0"/>
          </a:p>
        </p:txBody>
      </p:sp>
      <p:sp>
        <p:nvSpPr>
          <p:cNvPr id="248" name="textbox 248"/>
          <p:cNvSpPr/>
          <p:nvPr/>
        </p:nvSpPr>
        <p:spPr>
          <a:xfrm>
            <a:off x="1266825" y="11587328"/>
            <a:ext cx="1457325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8171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Single Source of Truth: </a:t>
            </a:r>
            <a:r>
              <a:rPr sz="3200" kern="0" spc="0" dirty="0">
                <a:solidFill>
                  <a:srgbClr val="315E9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designs serve as the baseline visual contract</a:t>
            </a:r>
            <a:endParaRPr sz="3200" dirty="0"/>
          </a:p>
          <a:p>
            <a:pPr marL="657225"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315E9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 front-end implementation.</a:t>
            </a:r>
            <a:endParaRPr sz="3200" dirty="0"/>
          </a:p>
        </p:txBody>
      </p:sp>
      <p:sp>
        <p:nvSpPr>
          <p:cNvPr id="254" name="textbox 254"/>
          <p:cNvSpPr/>
          <p:nvPr/>
        </p:nvSpPr>
        <p:spPr>
          <a:xfrm>
            <a:off x="1266825" y="17411700"/>
            <a:ext cx="38671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Methodologies &amp; Activities</a:t>
            </a:r>
            <a:endParaRPr sz="2400" dirty="0"/>
          </a:p>
        </p:txBody>
      </p:sp>
      <p:sp>
        <p:nvSpPr>
          <p:cNvPr id="256" name="textbox 256"/>
          <p:cNvSpPr/>
          <p:nvPr/>
        </p:nvSpPr>
        <p:spPr>
          <a:xfrm>
            <a:off x="29365575" y="17411700"/>
            <a:ext cx="184785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99999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8 of 20</a:t>
            </a:r>
            <a:endParaRPr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4AE823-88D5-6818-0A61-D264267BCA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4350" y="2437733"/>
            <a:ext cx="16259175" cy="10345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picture 2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262" name="textbox 262"/>
          <p:cNvSpPr/>
          <p:nvPr/>
        </p:nvSpPr>
        <p:spPr>
          <a:xfrm>
            <a:off x="1285875" y="1238250"/>
            <a:ext cx="18049875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161616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Methodology 2 &amp; 3: </a:t>
            </a:r>
            <a:r>
              <a:rPr sz="5900" b="1" kern="0" spc="0" dirty="0">
                <a:solidFill>
                  <a:srgbClr val="2351D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UML Modeling &amp; 3NF Database</a:t>
            </a:r>
            <a:endParaRPr sz="5900" dirty="0"/>
          </a:p>
        </p:txBody>
      </p:sp>
      <p:pic>
        <p:nvPicPr>
          <p:cNvPr id="266" name="picture 2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219450"/>
            <a:ext cx="647700" cy="581025"/>
          </a:xfrm>
          <a:prstGeom prst="rect">
            <a:avLst/>
          </a:prstGeom>
        </p:spPr>
      </p:pic>
      <p:sp>
        <p:nvSpPr>
          <p:cNvPr id="268" name="textbox 268"/>
          <p:cNvSpPr/>
          <p:nvPr/>
        </p:nvSpPr>
        <p:spPr>
          <a:xfrm>
            <a:off x="2895600" y="3219450"/>
            <a:ext cx="6010275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2359F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UML Behavioral Modeling</a:t>
            </a:r>
            <a:endParaRPr sz="4300" dirty="0"/>
          </a:p>
        </p:txBody>
      </p:sp>
      <p:pic>
        <p:nvPicPr>
          <p:cNvPr id="272" name="picture 2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35500" y="3219450"/>
            <a:ext cx="581025" cy="581025"/>
          </a:xfrm>
          <a:prstGeom prst="rect">
            <a:avLst/>
          </a:prstGeom>
        </p:spPr>
      </p:pic>
      <p:sp>
        <p:nvSpPr>
          <p:cNvPr id="274" name="textbox 274"/>
          <p:cNvSpPr/>
          <p:nvPr/>
        </p:nvSpPr>
        <p:spPr>
          <a:xfrm>
            <a:off x="18078450" y="3219450"/>
            <a:ext cx="712470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007FA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Normalization (3NF)</a:t>
            </a:r>
            <a:endParaRPr sz="4300" dirty="0"/>
          </a:p>
        </p:txBody>
      </p:sp>
      <p:sp>
        <p:nvSpPr>
          <p:cNvPr id="276" name="textbox 276"/>
          <p:cNvSpPr/>
          <p:nvPr/>
        </p:nvSpPr>
        <p:spPr>
          <a:xfrm>
            <a:off x="1981200" y="4114800"/>
            <a:ext cx="12611100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Unified Modeling Language (UML) specifications were built to define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precise system behavior before writing code:</a:t>
            </a:r>
            <a:endParaRPr sz="3200" dirty="0"/>
          </a:p>
        </p:txBody>
      </p:sp>
      <p:sp>
        <p:nvSpPr>
          <p:cNvPr id="278" name="textbox 278"/>
          <p:cNvSpPr/>
          <p:nvPr/>
        </p:nvSpPr>
        <p:spPr>
          <a:xfrm>
            <a:off x="17364075" y="4114800"/>
            <a:ext cx="1277302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07D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Entity-Relationship (ER) models were normalized to Third Normal Form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7D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(3NF) to guarantee transactional integrity:</a:t>
            </a:r>
            <a:endParaRPr sz="2900" dirty="0"/>
          </a:p>
        </p:txBody>
      </p:sp>
      <p:pic>
        <p:nvPicPr>
          <p:cNvPr id="282" name="picture 2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300" y="5600700"/>
            <a:ext cx="485775" cy="466725"/>
          </a:xfrm>
          <a:prstGeom prst="rect">
            <a:avLst/>
          </a:prstGeom>
        </p:spPr>
      </p:pic>
      <p:sp>
        <p:nvSpPr>
          <p:cNvPr id="284" name="textbox 284"/>
          <p:cNvSpPr/>
          <p:nvPr/>
        </p:nvSpPr>
        <p:spPr>
          <a:xfrm>
            <a:off x="2733675" y="5600700"/>
            <a:ext cx="10763250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Use Case Diagrams: </a:t>
            </a: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Defining boundaries between HR and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 roles.</a:t>
            </a:r>
            <a:endParaRPr sz="3200" dirty="0"/>
          </a:p>
        </p:txBody>
      </p:sp>
      <p:pic>
        <p:nvPicPr>
          <p:cNvPr id="288" name="picture 2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35500" y="5600700"/>
            <a:ext cx="514350" cy="466725"/>
          </a:xfrm>
          <a:prstGeom prst="rect">
            <a:avLst/>
          </a:prstGeom>
        </p:spPr>
      </p:pic>
      <p:sp>
        <p:nvSpPr>
          <p:cNvPr id="290" name="textbox 290"/>
          <p:cNvSpPr/>
          <p:nvPr/>
        </p:nvSpPr>
        <p:spPr>
          <a:xfrm>
            <a:off x="18078450" y="5600700"/>
            <a:ext cx="1124902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Redundancy Removal</a:t>
            </a:r>
            <a:r>
              <a:rPr sz="32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Disentangling applicant attributes into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separate entities.</a:t>
            </a:r>
            <a:endParaRPr sz="3200" dirty="0"/>
          </a:p>
        </p:txBody>
      </p:sp>
      <p:pic>
        <p:nvPicPr>
          <p:cNvPr id="294" name="picture 2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9300" y="7115175"/>
            <a:ext cx="485775" cy="495300"/>
          </a:xfrm>
          <a:prstGeom prst="rect">
            <a:avLst/>
          </a:prstGeom>
        </p:spPr>
      </p:pic>
      <p:sp>
        <p:nvSpPr>
          <p:cNvPr id="296" name="textbox 296"/>
          <p:cNvSpPr/>
          <p:nvPr/>
        </p:nvSpPr>
        <p:spPr>
          <a:xfrm>
            <a:off x="2733675" y="7134225"/>
            <a:ext cx="1219200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Sequence Diagrams: </a:t>
            </a:r>
            <a:r>
              <a:rPr sz="3200" kern="0" spc="0" dirty="0">
                <a:solidFill>
                  <a:srgbClr val="384B5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Mapping object message interactions across</a:t>
            </a:r>
            <a:endParaRPr sz="3200" dirty="0"/>
          </a:p>
          <a:p>
            <a:pPr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84B5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services.</a:t>
            </a:r>
            <a:endParaRPr sz="3200" dirty="0"/>
          </a:p>
        </p:txBody>
      </p:sp>
      <p:pic>
        <p:nvPicPr>
          <p:cNvPr id="300" name="picture 3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5500" y="7115175"/>
            <a:ext cx="514350" cy="495300"/>
          </a:xfrm>
          <a:prstGeom prst="rect">
            <a:avLst/>
          </a:prstGeom>
        </p:spPr>
      </p:pic>
      <p:sp>
        <p:nvSpPr>
          <p:cNvPr id="302" name="textbox 302"/>
          <p:cNvSpPr/>
          <p:nvPr/>
        </p:nvSpPr>
        <p:spPr>
          <a:xfrm>
            <a:off x="18078450" y="7134225"/>
            <a:ext cx="11487150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Constraints: </a:t>
            </a: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Enforcing strict 1:N Primary Key / Foreign Key</a:t>
            </a:r>
            <a:endParaRPr sz="3200" dirty="0"/>
          </a:p>
          <a:p>
            <a:pPr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cascade rules.</a:t>
            </a:r>
            <a:endParaRPr sz="3200" dirty="0"/>
          </a:p>
        </p:txBody>
      </p:sp>
      <p:pic>
        <p:nvPicPr>
          <p:cNvPr id="306" name="picture 30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300" y="8667750"/>
            <a:ext cx="485775" cy="495300"/>
          </a:xfrm>
          <a:prstGeom prst="rect">
            <a:avLst/>
          </a:prstGeom>
        </p:spPr>
      </p:pic>
      <p:sp>
        <p:nvSpPr>
          <p:cNvPr id="308" name="textbox 308"/>
          <p:cNvSpPr/>
          <p:nvPr/>
        </p:nvSpPr>
        <p:spPr>
          <a:xfrm>
            <a:off x="2733675" y="8705850"/>
            <a:ext cx="10668000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State Machine Diagrams:</a:t>
            </a: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Tracking status transitions (e.g.,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Application Pending → Offer Issued).</a:t>
            </a:r>
            <a:endParaRPr sz="3200" dirty="0"/>
          </a:p>
        </p:txBody>
      </p:sp>
      <p:pic>
        <p:nvPicPr>
          <p:cNvPr id="312" name="picture 3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35500" y="8667750"/>
            <a:ext cx="514350" cy="495300"/>
          </a:xfrm>
          <a:prstGeom prst="rect">
            <a:avLst/>
          </a:prstGeom>
        </p:spPr>
      </p:pic>
      <p:sp>
        <p:nvSpPr>
          <p:cNvPr id="314" name="textbox 314"/>
          <p:cNvSpPr/>
          <p:nvPr/>
        </p:nvSpPr>
        <p:spPr>
          <a:xfrm>
            <a:off x="18078450" y="8705850"/>
            <a:ext cx="1193482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SQL Schemas: </a:t>
            </a:r>
            <a:r>
              <a:rPr sz="3200" kern="0" spc="0" dirty="0">
                <a:solidFill>
                  <a:srgbClr val="3647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Generating standardized `schema.sql` executable</a:t>
            </a:r>
            <a:endParaRPr sz="3200" dirty="0"/>
          </a:p>
          <a:p>
            <a:pPr algn="l" rtl="0" eaLnBrk="0">
              <a:spcBef>
                <a:spcPts val="825"/>
              </a:spcBef>
            </a:pPr>
            <a:r>
              <a:rPr sz="3200" kern="0" spc="0" dirty="0">
                <a:solidFill>
                  <a:srgbClr val="36475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initialization scripts.</a:t>
            </a:r>
            <a:endParaRPr sz="3200" dirty="0"/>
          </a:p>
        </p:txBody>
      </p:sp>
      <p:sp>
        <p:nvSpPr>
          <p:cNvPr id="316" name="textbox 316"/>
          <p:cNvSpPr/>
          <p:nvPr/>
        </p:nvSpPr>
        <p:spPr>
          <a:xfrm>
            <a:off x="1266825" y="17411700"/>
            <a:ext cx="38671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Methodologies &amp; Activities</a:t>
            </a:r>
            <a:endParaRPr sz="2400" dirty="0"/>
          </a:p>
        </p:txBody>
      </p:sp>
      <p:sp>
        <p:nvSpPr>
          <p:cNvPr id="318" name="textbox 318"/>
          <p:cNvSpPr/>
          <p:nvPr/>
        </p:nvSpPr>
        <p:spPr>
          <a:xfrm>
            <a:off x="29365575" y="17411700"/>
            <a:ext cx="18859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9 of 20</a:t>
            </a:r>
            <a:endParaRPr sz="2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box 324"/>
          <p:cNvSpPr/>
          <p:nvPr/>
        </p:nvSpPr>
        <p:spPr>
          <a:xfrm>
            <a:off x="11187619" y="981075"/>
            <a:ext cx="10143112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161616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Methodology 4: </a:t>
            </a:r>
            <a:r>
              <a:rPr sz="5900" b="1" kern="0" spc="0" dirty="0">
                <a:solidFill>
                  <a:srgbClr val="2351D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Front-End</a:t>
            </a:r>
            <a:endParaRPr sz="5900" dirty="0"/>
          </a:p>
        </p:txBody>
      </p:sp>
      <p:sp>
        <p:nvSpPr>
          <p:cNvPr id="326" name="textbox 326"/>
          <p:cNvSpPr/>
          <p:nvPr/>
        </p:nvSpPr>
        <p:spPr>
          <a:xfrm>
            <a:off x="3792369" y="3743325"/>
            <a:ext cx="809625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&lt;/&gt; ：</a:t>
            </a:r>
            <a:r>
              <a:rPr sz="4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Front-End Layout Engineering</a:t>
            </a:r>
            <a:endParaRPr sz="4000" dirty="0"/>
          </a:p>
        </p:txBody>
      </p:sp>
      <p:sp>
        <p:nvSpPr>
          <p:cNvPr id="330" name="textbox 330"/>
          <p:cNvSpPr/>
          <p:nvPr/>
        </p:nvSpPr>
        <p:spPr>
          <a:xfrm>
            <a:off x="456085" y="4960397"/>
            <a:ext cx="12944475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wireframes were translated into working web components using</a:t>
            </a:r>
            <a:endParaRPr sz="4000" dirty="0"/>
          </a:p>
          <a:p>
            <a:pPr algn="l" rtl="0" eaLnBrk="0">
              <a:spcBef>
                <a:spcPts val="975"/>
              </a:spcBef>
            </a:pPr>
            <a:r>
              <a:rPr sz="4000" kern="0" spc="0" dirty="0">
                <a:solidFill>
                  <a:srgbClr val="53585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modern layout standards:</a:t>
            </a:r>
            <a:endParaRPr sz="4000" dirty="0"/>
          </a:p>
        </p:txBody>
      </p:sp>
      <p:sp>
        <p:nvSpPr>
          <p:cNvPr id="334" name="textbox 334"/>
          <p:cNvSpPr/>
          <p:nvPr/>
        </p:nvSpPr>
        <p:spPr>
          <a:xfrm>
            <a:off x="527523" y="7589297"/>
            <a:ext cx="11953875" cy="1028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HTML5 &amp; CSS3 Flexbox: </a:t>
            </a: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Building structured, responsive grid</a:t>
            </a:r>
            <a:endParaRPr sz="4000" dirty="0"/>
          </a:p>
          <a:p>
            <a:pPr marL="666750" algn="l" rtl="0" eaLnBrk="0">
              <a:spcBef>
                <a:spcPts val="825"/>
              </a:spcBef>
            </a:pP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containers.</a:t>
            </a:r>
            <a:endParaRPr sz="4000" dirty="0"/>
          </a:p>
        </p:txBody>
      </p:sp>
      <p:sp>
        <p:nvSpPr>
          <p:cNvPr id="338" name="textbox 338"/>
          <p:cNvSpPr/>
          <p:nvPr/>
        </p:nvSpPr>
        <p:spPr>
          <a:xfrm>
            <a:off x="515261" y="9699084"/>
            <a:ext cx="127063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Two-Column Profiles: </a:t>
            </a: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Self-taught dynamic profile cards and data</a:t>
            </a:r>
            <a:endParaRPr sz="4000" dirty="0"/>
          </a:p>
          <a:p>
            <a:pPr marL="666750" algn="l" rtl="0" eaLnBrk="0">
              <a:spcBef>
                <a:spcPts val="1125"/>
              </a:spcBef>
            </a:pPr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tables.</a:t>
            </a:r>
            <a:endParaRPr sz="4000" dirty="0"/>
          </a:p>
        </p:txBody>
      </p:sp>
      <p:sp>
        <p:nvSpPr>
          <p:cNvPr id="342" name="textbox 342"/>
          <p:cNvSpPr/>
          <p:nvPr/>
        </p:nvSpPr>
        <p:spPr>
          <a:xfrm>
            <a:off x="527523" y="11818396"/>
            <a:ext cx="12487275" cy="1019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54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Interactive Components: </a:t>
            </a:r>
            <a:r>
              <a:rPr sz="4000" kern="0" spc="0" dirty="0">
                <a:solidFill>
                  <a:srgbClr val="30404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Smooth state triggers for modal forms</a:t>
            </a:r>
            <a:endParaRPr sz="4000" dirty="0"/>
          </a:p>
          <a:p>
            <a:pPr marL="752475" algn="l" rtl="0" eaLnBrk="0">
              <a:spcBef>
                <a:spcPts val="900"/>
              </a:spcBef>
            </a:pPr>
            <a:r>
              <a:rPr sz="4000" kern="0" spc="0" dirty="0">
                <a:solidFill>
                  <a:srgbClr val="30404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and status filters.</a:t>
            </a:r>
            <a:endParaRPr sz="4000" dirty="0"/>
          </a:p>
        </p:txBody>
      </p:sp>
      <p:sp>
        <p:nvSpPr>
          <p:cNvPr id="346" name="textbox 346"/>
          <p:cNvSpPr/>
          <p:nvPr/>
        </p:nvSpPr>
        <p:spPr>
          <a:xfrm>
            <a:off x="1266825" y="17411700"/>
            <a:ext cx="38671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sz="2400" b="1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r>
              <a:rPr lang="en-US" altLang="zh-CN" sz="2400" b="1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ront-End</a:t>
            </a:r>
            <a:endParaRPr sz="2400" dirty="0"/>
          </a:p>
        </p:txBody>
      </p:sp>
      <p:sp>
        <p:nvSpPr>
          <p:cNvPr id="348" name="textbox 348"/>
          <p:cNvSpPr/>
          <p:nvPr/>
        </p:nvSpPr>
        <p:spPr>
          <a:xfrm>
            <a:off x="29232225" y="17411700"/>
            <a:ext cx="198120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10 of 20</a:t>
            </a:r>
            <a:endParaRPr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17C81B-46D2-808B-3B82-AEE842C721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5961" y="2548646"/>
            <a:ext cx="15424866" cy="137549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D36F9769-E492-6895-C0D1-BFABD0B3060C}"/>
              </a:ext>
            </a:extLst>
          </p:cNvPr>
          <p:cNvSpPr txBox="1"/>
          <p:nvPr/>
        </p:nvSpPr>
        <p:spPr>
          <a:xfrm>
            <a:off x="9628964" y="1051452"/>
            <a:ext cx="13260421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0"/>
            <a:r>
              <a:rPr lang="en-US" altLang="zh-CN" sz="5900" b="1" kern="0" spc="0" dirty="0">
                <a:solidFill>
                  <a:srgbClr val="161616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Methodology 5: </a:t>
            </a:r>
            <a:r>
              <a:rPr lang="en-US" altLang="zh-CN" sz="5900" b="1" kern="0" spc="0" dirty="0">
                <a:solidFill>
                  <a:srgbClr val="2351D0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Event Architecture</a:t>
            </a:r>
            <a:endParaRPr lang="en-US" altLang="zh-CN" sz="5900" dirty="0"/>
          </a:p>
        </p:txBody>
      </p:sp>
      <p:sp>
        <p:nvSpPr>
          <p:cNvPr id="9" name="textbox 328">
            <a:extLst>
              <a:ext uri="{FF2B5EF4-FFF2-40B4-BE49-F238E27FC236}">
                <a16:creationId xmlns:a16="http://schemas.microsoft.com/office/drawing/2014/main" id="{643A4C56-9187-9B4E-CB53-B221B92E84FA}"/>
              </a:ext>
            </a:extLst>
          </p:cNvPr>
          <p:cNvSpPr/>
          <p:nvPr/>
        </p:nvSpPr>
        <p:spPr>
          <a:xfrm>
            <a:off x="11296649" y="9011359"/>
            <a:ext cx="992505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2060F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Event-Driven Notification Architecture</a:t>
            </a:r>
            <a:endParaRPr sz="4000" dirty="0"/>
          </a:p>
        </p:txBody>
      </p:sp>
      <p:sp>
        <p:nvSpPr>
          <p:cNvPr id="11" name="textbox 332">
            <a:extLst>
              <a:ext uri="{FF2B5EF4-FFF2-40B4-BE49-F238E27FC236}">
                <a16:creationId xmlns:a16="http://schemas.microsoft.com/office/drawing/2014/main" id="{04616D48-ED3B-1293-0C4B-3CB4BE8D0B4B}"/>
              </a:ext>
            </a:extLst>
          </p:cNvPr>
          <p:cNvSpPr/>
          <p:nvPr/>
        </p:nvSpPr>
        <p:spPr>
          <a:xfrm>
            <a:off x="6621798" y="10241096"/>
            <a:ext cx="19274751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Designed automated notification handlers responding to recruitment</a:t>
            </a:r>
            <a:r>
              <a:rPr lang="en-US" sz="4000" dirty="0"/>
              <a:t> </a:t>
            </a:r>
            <a:r>
              <a:rPr sz="4000" kern="0" spc="0" dirty="0">
                <a:solidFill>
                  <a:srgbClr val="4857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updates:</a:t>
            </a:r>
            <a:endParaRPr sz="4000" dirty="0"/>
          </a:p>
        </p:txBody>
      </p:sp>
      <p:sp>
        <p:nvSpPr>
          <p:cNvPr id="13" name="textbox 336">
            <a:extLst>
              <a:ext uri="{FF2B5EF4-FFF2-40B4-BE49-F238E27FC236}">
                <a16:creationId xmlns:a16="http://schemas.microsoft.com/office/drawing/2014/main" id="{E4A214F1-2652-4AAD-9830-BAEBF5B9D748}"/>
              </a:ext>
            </a:extLst>
          </p:cNvPr>
          <p:cNvSpPr/>
          <p:nvPr/>
        </p:nvSpPr>
        <p:spPr>
          <a:xfrm>
            <a:off x="842050" y="11981641"/>
            <a:ext cx="1088707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18171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Event Triggers: </a:t>
            </a:r>
            <a:r>
              <a:rPr sz="4000" kern="0" spc="0" dirty="0">
                <a:solidFill>
                  <a:srgbClr val="2D3D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Stage updates by HR automatically emit</a:t>
            </a:r>
            <a:endParaRPr sz="4000" dirty="0"/>
          </a:p>
          <a:p>
            <a:pPr marL="676275" algn="l" rtl="0" eaLnBrk="0">
              <a:spcBef>
                <a:spcPts val="975"/>
              </a:spcBef>
            </a:pPr>
            <a:r>
              <a:rPr sz="4000" kern="0" spc="0" dirty="0">
                <a:solidFill>
                  <a:srgbClr val="2D3D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background events.</a:t>
            </a:r>
            <a:endParaRPr sz="4000" dirty="0"/>
          </a:p>
        </p:txBody>
      </p:sp>
      <p:sp>
        <p:nvSpPr>
          <p:cNvPr id="15" name="textbox 340">
            <a:extLst>
              <a:ext uri="{FF2B5EF4-FFF2-40B4-BE49-F238E27FC236}">
                <a16:creationId xmlns:a16="http://schemas.microsoft.com/office/drawing/2014/main" id="{4014A038-AAE6-2A0A-D5B3-82D319C4737B}"/>
              </a:ext>
            </a:extLst>
          </p:cNvPr>
          <p:cNvSpPr/>
          <p:nvPr/>
        </p:nvSpPr>
        <p:spPr>
          <a:xfrm>
            <a:off x="842050" y="14386956"/>
            <a:ext cx="1249680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6FC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Notification Handlers: </a:t>
            </a:r>
            <a:r>
              <a:rPr sz="40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Formats and queues progress notification</a:t>
            </a:r>
            <a:endParaRPr sz="4000" dirty="0"/>
          </a:p>
          <a:p>
            <a:pPr marL="676275" algn="l" rtl="0" eaLnBrk="0">
              <a:spcBef>
                <a:spcPts val="1050"/>
              </a:spcBef>
            </a:pPr>
            <a:r>
              <a:rPr sz="40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messages.</a:t>
            </a:r>
            <a:endParaRPr sz="4000" dirty="0"/>
          </a:p>
        </p:txBody>
      </p:sp>
      <p:sp>
        <p:nvSpPr>
          <p:cNvPr id="17" name="textbox 344">
            <a:extLst>
              <a:ext uri="{FF2B5EF4-FFF2-40B4-BE49-F238E27FC236}">
                <a16:creationId xmlns:a16="http://schemas.microsoft.com/office/drawing/2014/main" id="{B2E4C963-A557-2738-26F3-6310AB0AAA1F}"/>
              </a:ext>
            </a:extLst>
          </p:cNvPr>
          <p:cNvSpPr/>
          <p:nvPr/>
        </p:nvSpPr>
        <p:spPr>
          <a:xfrm>
            <a:off x="16259174" y="12853281"/>
            <a:ext cx="119824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0F5DA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4000" b="1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Real-Time Delivery:</a:t>
            </a:r>
            <a:r>
              <a:rPr sz="40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Informs candidates immediately of hiring</a:t>
            </a:r>
            <a:endParaRPr sz="4000" dirty="0"/>
          </a:p>
          <a:p>
            <a:pPr marL="676275" algn="l" rtl="0" eaLnBrk="0">
              <a:spcBef>
                <a:spcPts val="750"/>
              </a:spcBef>
            </a:pPr>
            <a:r>
              <a:rPr sz="4000" kern="0" spc="0" dirty="0">
                <a:solidFill>
                  <a:srgbClr val="222A3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decisions.</a:t>
            </a:r>
            <a:endParaRPr sz="40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CEFAFB9-1218-D49E-A24B-25E75DD8A9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297" y="2431551"/>
            <a:ext cx="28469754" cy="596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53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picture 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354" name="textbox 354"/>
          <p:cNvSpPr/>
          <p:nvPr/>
        </p:nvSpPr>
        <p:spPr>
          <a:xfrm>
            <a:off x="1304925" y="1209675"/>
            <a:ext cx="18754725" cy="790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0D0D0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Results: </a:t>
            </a:r>
            <a:r>
              <a:rPr sz="6100" b="1" kern="0" spc="0" dirty="0">
                <a:solidFill>
                  <a:srgbClr val="2359F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Functional Requirements Specification (FRS)</a:t>
            </a:r>
            <a:endParaRPr sz="6100" dirty="0"/>
          </a:p>
        </p:txBody>
      </p:sp>
      <p:graphicFrame>
        <p:nvGraphicFramePr>
          <p:cNvPr id="356" name="table 3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122544"/>
              </p:ext>
            </p:extLst>
          </p:nvPr>
        </p:nvGraphicFramePr>
        <p:xfrm>
          <a:off x="1304925" y="2543175"/>
          <a:ext cx="29851350" cy="9315450"/>
        </p:xfrm>
        <a:graphic>
          <a:graphicData uri="http://schemas.openxmlformats.org/drawingml/2006/table">
            <a:tbl>
              <a:tblPr/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9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38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52525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Req ID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Target Role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Functional Requirement Description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Mapped Aim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Status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FR-01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All Users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Dual-role authentication securely segregating Applicants and HR Personnel.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A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In Progress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8300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FR-02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Job Applicant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Modular candidate data store (Summary,Career History,Education,</a:t>
                      </a:r>
                      <a:endParaRPr sz="2100" dirty="0"/>
                    </a:p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Certifications).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A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8725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FR-03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Job Applicant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Direct job application submission and real-time stage progress tracking.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B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9675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FR-04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HR Recruiter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4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Centralized job vacancy authoring,posting,updating,and listing closure.</a:t>
                      </a:r>
                      <a:endParaRPr sz="24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C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In Progress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57350"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FR-05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30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HR Recruiter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Candidate application evaluation dashboard &amp;dynamic stage update</a:t>
                      </a:r>
                      <a:endParaRPr sz="2100" dirty="0"/>
                    </a:p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mechanism.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D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8725">
                <a:tc>
                  <a:txBody>
                    <a:bodyPr/>
                    <a:lstStyle/>
                    <a:p>
                      <a:pPr algn="ctr" rtl="0" eaLnBrk="0"/>
                      <a:r>
                        <a:rPr sz="3000" b="1" kern="0" spc="0" dirty="0">
                          <a:solidFill>
                            <a:srgbClr val="354454">
                              <a:alpha val="100000"/>
                            </a:srgbClr>
                          </a:solidFill>
                          <a:latin typeface="Tahoma" panose="020B0604030504040204"/>
                          <a:ea typeface="Tahoma" panose="020B0604030504040204"/>
                          <a:cs typeface="Tahoma" panose="020B0604030504040204"/>
                        </a:rPr>
                        <a:t>FR-06</a:t>
                      </a:r>
                      <a:endParaRPr sz="30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System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1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Automated candidate stage progression notification dispatch.</a:t>
                      </a:r>
                      <a:endParaRPr sz="21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kern="0" spc="0" dirty="0">
                          <a:solidFill>
                            <a:srgbClr val="44546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Aim E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eaLnBrk="0"/>
                      <a:r>
                        <a:rPr sz="2700" b="1" kern="0" spc="0" dirty="0">
                          <a:solidFill>
                            <a:srgbClr val="1D419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 Progress</a:t>
                      </a:r>
                      <a:endParaRPr sz="27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CE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8" name="textbox 358"/>
          <p:cNvSpPr/>
          <p:nvPr/>
        </p:nvSpPr>
        <p:spPr>
          <a:xfrm>
            <a:off x="1266825" y="17411700"/>
            <a:ext cx="468630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Results &amp; System Specifications</a:t>
            </a:r>
            <a:endParaRPr sz="2700" dirty="0"/>
          </a:p>
        </p:txBody>
      </p:sp>
      <p:sp>
        <p:nvSpPr>
          <p:cNvPr id="360" name="textbox 360"/>
          <p:cNvSpPr/>
          <p:nvPr/>
        </p:nvSpPr>
        <p:spPr>
          <a:xfrm>
            <a:off x="29298900" y="17411700"/>
            <a:ext cx="1914525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99999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11 of 20</a:t>
            </a: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picture 3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366" name="textbox 366"/>
          <p:cNvSpPr/>
          <p:nvPr/>
        </p:nvSpPr>
        <p:spPr>
          <a:xfrm>
            <a:off x="1266824" y="776286"/>
            <a:ext cx="16706850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0B1A2E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Figma UI Architecture: </a:t>
            </a:r>
            <a:r>
              <a:rPr sz="5900" b="1" kern="0" spc="0" dirty="0">
                <a:solidFill>
                  <a:srgbClr val="2159FD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High-Fidelity Prototype</a:t>
            </a:r>
            <a:endParaRPr sz="5900" dirty="0"/>
          </a:p>
        </p:txBody>
      </p:sp>
      <p:sp>
        <p:nvSpPr>
          <p:cNvPr id="368" name="textbox 368"/>
          <p:cNvSpPr/>
          <p:nvPr/>
        </p:nvSpPr>
        <p:spPr>
          <a:xfrm>
            <a:off x="1266825" y="2600325"/>
            <a:ext cx="8458200" cy="619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6161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System-Wide Figma Specifications</a:t>
            </a:r>
            <a:endParaRPr sz="4300" dirty="0"/>
          </a:p>
        </p:txBody>
      </p:sp>
      <p:sp>
        <p:nvSpPr>
          <p:cNvPr id="370" name="textbox 370"/>
          <p:cNvSpPr/>
          <p:nvPr/>
        </p:nvSpPr>
        <p:spPr>
          <a:xfrm>
            <a:off x="1266825" y="3495675"/>
            <a:ext cx="1349692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2585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The team established a comprehensive Figma design system acting as the</a:t>
            </a:r>
            <a:endParaRPr sz="2900" dirty="0"/>
          </a:p>
          <a:p>
            <a:pPr algn="l" rtl="0" eaLnBrk="0">
              <a:spcBef>
                <a:spcPts val="1500"/>
              </a:spcBef>
            </a:pPr>
            <a:r>
              <a:rPr sz="2900" kern="0" spc="0" dirty="0">
                <a:solidFill>
                  <a:srgbClr val="52585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single source of truth for both web and mobile screens:</a:t>
            </a:r>
            <a:endParaRPr sz="2900" dirty="0"/>
          </a:p>
        </p:txBody>
      </p:sp>
      <p:pic>
        <p:nvPicPr>
          <p:cNvPr id="374" name="picture 3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825" y="5010150"/>
            <a:ext cx="428625" cy="495300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1981200" y="5029200"/>
            <a:ext cx="13868400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Dual Platform Frames: </a:t>
            </a:r>
            <a:r>
              <a:rPr sz="3200" kern="0" spc="0" dirty="0">
                <a:solidFill>
                  <a:srgbClr val="31333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 screens for mobile viewports and desktop</a:t>
            </a:r>
            <a:endParaRPr sz="3200" dirty="0"/>
          </a:p>
          <a:p>
            <a:pPr algn="l" rtl="0" eaLnBrk="0">
              <a:spcBef>
                <a:spcPts val="750"/>
              </a:spcBef>
            </a:pPr>
            <a:r>
              <a:rPr sz="3200" kern="0" spc="0" dirty="0">
                <a:solidFill>
                  <a:srgbClr val="31333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browsers.</a:t>
            </a:r>
            <a:endParaRPr sz="3200" dirty="0"/>
          </a:p>
        </p:txBody>
      </p:sp>
      <p:pic>
        <p:nvPicPr>
          <p:cNvPr id="382" name="picture 3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825" y="6543675"/>
            <a:ext cx="590550" cy="476250"/>
          </a:xfrm>
          <a:prstGeom prst="rect">
            <a:avLst/>
          </a:prstGeom>
        </p:spPr>
      </p:pic>
      <p:sp>
        <p:nvSpPr>
          <p:cNvPr id="384" name="textbox 384"/>
          <p:cNvSpPr/>
          <p:nvPr/>
        </p:nvSpPr>
        <p:spPr>
          <a:xfrm>
            <a:off x="1981200" y="6543675"/>
            <a:ext cx="13630275" cy="1047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 Workflows: </a:t>
            </a: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Registration, profile editor, job feed, and application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status tracker.</a:t>
            </a:r>
            <a:endParaRPr sz="3200" dirty="0"/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825" y="8105775"/>
            <a:ext cx="523875" cy="466725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1981200" y="8105775"/>
            <a:ext cx="12611100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HR Dashboard Workflows: </a:t>
            </a: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creation wizard, candidate evaluation</a:t>
            </a:r>
            <a:endParaRPr sz="3200" dirty="0"/>
          </a:p>
          <a:p>
            <a:pPr algn="l" rtl="0" eaLnBrk="0">
              <a:spcBef>
                <a:spcPts val="750"/>
              </a:spcBef>
            </a:pPr>
            <a:r>
              <a:rPr sz="3200" kern="0" spc="0" dirty="0">
                <a:solidFill>
                  <a:srgbClr val="2F3F4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matrix, and offer triggers.</a:t>
            </a:r>
            <a:endParaRPr sz="3200" dirty="0"/>
          </a:p>
        </p:txBody>
      </p:sp>
      <p:sp>
        <p:nvSpPr>
          <p:cNvPr id="400" name="textbox 400"/>
          <p:cNvSpPr/>
          <p:nvPr/>
        </p:nvSpPr>
        <p:spPr>
          <a:xfrm>
            <a:off x="19669125" y="9667875"/>
            <a:ext cx="119062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02" name="textbox 402"/>
          <p:cNvSpPr/>
          <p:nvPr/>
        </p:nvSpPr>
        <p:spPr>
          <a:xfrm>
            <a:off x="23374350" y="9667875"/>
            <a:ext cx="1171575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04" name="textbox 404"/>
          <p:cNvSpPr/>
          <p:nvPr/>
        </p:nvSpPr>
        <p:spPr>
          <a:xfrm>
            <a:off x="19431000" y="10001250"/>
            <a:ext cx="17335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150" dirty="0">
                <a:solidFill>
                  <a:srgbClr val="FFFFFF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Class name</a:t>
            </a:r>
            <a:endParaRPr sz="2100" dirty="0"/>
          </a:p>
        </p:txBody>
      </p:sp>
      <p:sp>
        <p:nvSpPr>
          <p:cNvPr id="406" name="textbox 406"/>
          <p:cNvSpPr/>
          <p:nvPr/>
        </p:nvSpPr>
        <p:spPr>
          <a:xfrm>
            <a:off x="23088600" y="10001250"/>
            <a:ext cx="1733550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 name</a:t>
            </a:r>
            <a:endParaRPr sz="2400" dirty="0"/>
          </a:p>
        </p:txBody>
      </p:sp>
      <p:sp>
        <p:nvSpPr>
          <p:cNvPr id="412" name="textbox 412"/>
          <p:cNvSpPr/>
          <p:nvPr/>
        </p:nvSpPr>
        <p:spPr>
          <a:xfrm>
            <a:off x="27060525" y="12049125"/>
            <a:ext cx="115252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Object:</a:t>
            </a:r>
            <a:endParaRPr sz="2400" dirty="0"/>
          </a:p>
        </p:txBody>
      </p:sp>
      <p:sp>
        <p:nvSpPr>
          <p:cNvPr id="414" name="textbox 414"/>
          <p:cNvSpPr/>
          <p:nvPr/>
        </p:nvSpPr>
        <p:spPr>
          <a:xfrm>
            <a:off x="19669125" y="12087225"/>
            <a:ext cx="119062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16" name="textbox 416"/>
          <p:cNvSpPr/>
          <p:nvPr/>
        </p:nvSpPr>
        <p:spPr>
          <a:xfrm>
            <a:off x="19431000" y="12420600"/>
            <a:ext cx="176212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 name</a:t>
            </a:r>
            <a:endParaRPr sz="2400" dirty="0"/>
          </a:p>
        </p:txBody>
      </p:sp>
      <p:sp>
        <p:nvSpPr>
          <p:cNvPr id="418" name="textbox 418"/>
          <p:cNvSpPr/>
          <p:nvPr/>
        </p:nvSpPr>
        <p:spPr>
          <a:xfrm>
            <a:off x="26755725" y="12420600"/>
            <a:ext cx="173355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Class name</a:t>
            </a:r>
            <a:endParaRPr sz="2400" dirty="0"/>
          </a:p>
        </p:txBody>
      </p:sp>
      <p:sp>
        <p:nvSpPr>
          <p:cNvPr id="422" name="textbox 422"/>
          <p:cNvSpPr/>
          <p:nvPr/>
        </p:nvSpPr>
        <p:spPr>
          <a:xfrm>
            <a:off x="23374350" y="14468475"/>
            <a:ext cx="1171575" cy="476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Object:</a:t>
            </a:r>
            <a:endParaRPr sz="2100" dirty="0"/>
          </a:p>
        </p:txBody>
      </p:sp>
      <p:sp>
        <p:nvSpPr>
          <p:cNvPr id="424" name="textbox 424"/>
          <p:cNvSpPr/>
          <p:nvPr/>
        </p:nvSpPr>
        <p:spPr>
          <a:xfrm>
            <a:off x="23088600" y="14811375"/>
            <a:ext cx="169545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100" kern="0" spc="1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class name</a:t>
            </a:r>
            <a:endParaRPr sz="2100" dirty="0"/>
          </a:p>
        </p:txBody>
      </p:sp>
      <p:sp>
        <p:nvSpPr>
          <p:cNvPr id="426" name="textbox 426"/>
          <p:cNvSpPr/>
          <p:nvPr/>
        </p:nvSpPr>
        <p:spPr>
          <a:xfrm>
            <a:off x="1266825" y="17411700"/>
            <a:ext cx="43624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Prototype Architecture</a:t>
            </a:r>
            <a:endParaRPr sz="27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B74E992-6DE5-C8A6-DCA5-107ECA70A6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4950" y="2076449"/>
            <a:ext cx="14582773" cy="78374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4A17929-F392-EFE3-A49F-2D1D08CB5B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4950" y="9913855"/>
            <a:ext cx="14575197" cy="76720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E4876A5-ACA0-3388-7777-A996E7EB1A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824" y="9378820"/>
            <a:ext cx="14125576" cy="76181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box 434"/>
          <p:cNvSpPr/>
          <p:nvPr/>
        </p:nvSpPr>
        <p:spPr>
          <a:xfrm>
            <a:off x="1285875" y="1238250"/>
            <a:ext cx="1590675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Architecture: </a:t>
            </a:r>
            <a:r>
              <a:rPr sz="6100" b="1" kern="0" spc="0" dirty="0">
                <a:solidFill>
                  <a:srgbClr val="1E54E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3NF Physical Schema</a:t>
            </a:r>
            <a:endParaRPr sz="6100" dirty="0"/>
          </a:p>
        </p:txBody>
      </p:sp>
      <p:sp>
        <p:nvSpPr>
          <p:cNvPr id="444" name="textbox 444"/>
          <p:cNvSpPr/>
          <p:nvPr/>
        </p:nvSpPr>
        <p:spPr>
          <a:xfrm>
            <a:off x="2838450" y="5572125"/>
            <a:ext cx="1447800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52" name="textbox 452"/>
          <p:cNvSpPr/>
          <p:nvPr/>
        </p:nvSpPr>
        <p:spPr>
          <a:xfrm>
            <a:off x="9039225" y="5600700"/>
            <a:ext cx="295275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2400" dirty="0"/>
          </a:p>
        </p:txBody>
      </p:sp>
      <p:sp>
        <p:nvSpPr>
          <p:cNvPr id="456" name="textbox 456"/>
          <p:cNvSpPr/>
          <p:nvPr/>
        </p:nvSpPr>
        <p:spPr>
          <a:xfrm>
            <a:off x="13515975" y="5695950"/>
            <a:ext cx="117157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58" name="textbox 458"/>
          <p:cNvSpPr/>
          <p:nvPr/>
        </p:nvSpPr>
        <p:spPr>
          <a:xfrm rot="5400000">
            <a:off x="9039225" y="5905500"/>
            <a:ext cx="333375" cy="781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zz</a:t>
            </a:r>
            <a:endParaRPr sz="2700" dirty="0"/>
          </a:p>
        </p:txBody>
      </p:sp>
      <p:sp>
        <p:nvSpPr>
          <p:cNvPr id="468" name="textbox 468"/>
          <p:cNvSpPr/>
          <p:nvPr/>
        </p:nvSpPr>
        <p:spPr>
          <a:xfrm>
            <a:off x="12801600" y="6067425"/>
            <a:ext cx="7143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82" name="textbox 482"/>
          <p:cNvSpPr/>
          <p:nvPr/>
        </p:nvSpPr>
        <p:spPr>
          <a:xfrm>
            <a:off x="12801600" y="6448425"/>
            <a:ext cx="7143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900" dirty="0"/>
          </a:p>
        </p:txBody>
      </p:sp>
      <p:sp>
        <p:nvSpPr>
          <p:cNvPr id="486" name="textbox 486"/>
          <p:cNvSpPr/>
          <p:nvPr/>
        </p:nvSpPr>
        <p:spPr>
          <a:xfrm>
            <a:off x="6162675" y="6638925"/>
            <a:ext cx="80962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2900" dirty="0"/>
          </a:p>
        </p:txBody>
      </p:sp>
      <p:sp>
        <p:nvSpPr>
          <p:cNvPr id="488" name="textbox 488"/>
          <p:cNvSpPr/>
          <p:nvPr/>
        </p:nvSpPr>
        <p:spPr>
          <a:xfrm>
            <a:off x="7448550" y="6638925"/>
            <a:ext cx="125730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494" name="textbox 494"/>
          <p:cNvSpPr/>
          <p:nvPr/>
        </p:nvSpPr>
        <p:spPr>
          <a:xfrm>
            <a:off x="12563475" y="6781800"/>
            <a:ext cx="9810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506" name="textbox 506"/>
          <p:cNvSpPr/>
          <p:nvPr/>
        </p:nvSpPr>
        <p:spPr>
          <a:xfrm>
            <a:off x="7810500" y="8858250"/>
            <a:ext cx="223837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900" dirty="0"/>
          </a:p>
        </p:txBody>
      </p:sp>
      <p:sp>
        <p:nvSpPr>
          <p:cNvPr id="512" name="textbox 512"/>
          <p:cNvSpPr/>
          <p:nvPr/>
        </p:nvSpPr>
        <p:spPr>
          <a:xfrm>
            <a:off x="7067550" y="9191625"/>
            <a:ext cx="3457575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520" name="textbox 520"/>
          <p:cNvSpPr/>
          <p:nvPr/>
        </p:nvSpPr>
        <p:spPr>
          <a:xfrm>
            <a:off x="6315075" y="9429750"/>
            <a:ext cx="2009775" cy="447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95250" algn="l" rtl="0" eaLnBrk="0">
              <a:buChar char="-"/>
            </a:pPr>
            <a:endParaRPr sz="1300" dirty="0"/>
          </a:p>
        </p:txBody>
      </p:sp>
      <p:sp>
        <p:nvSpPr>
          <p:cNvPr id="522" name="textbox 522"/>
          <p:cNvSpPr/>
          <p:nvPr/>
        </p:nvSpPr>
        <p:spPr>
          <a:xfrm>
            <a:off x="9277350" y="9496425"/>
            <a:ext cx="145732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900" dirty="0"/>
          </a:p>
        </p:txBody>
      </p:sp>
      <p:sp>
        <p:nvSpPr>
          <p:cNvPr id="530" name="textbox 530"/>
          <p:cNvSpPr/>
          <p:nvPr/>
        </p:nvSpPr>
        <p:spPr>
          <a:xfrm>
            <a:off x="6791325" y="9829800"/>
            <a:ext cx="1047750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1900" kern="0" spc="225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Count</a:t>
            </a:r>
            <a:endParaRPr sz="1900" dirty="0"/>
          </a:p>
        </p:txBody>
      </p:sp>
      <p:sp>
        <p:nvSpPr>
          <p:cNvPr id="538" name="textbox 538"/>
          <p:cNvSpPr/>
          <p:nvPr/>
        </p:nvSpPr>
        <p:spPr>
          <a:xfrm>
            <a:off x="9277350" y="9906000"/>
            <a:ext cx="1219200" cy="333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1600" dirty="0"/>
          </a:p>
        </p:txBody>
      </p:sp>
      <p:sp>
        <p:nvSpPr>
          <p:cNvPr id="572" name="textbox 572"/>
          <p:cNvSpPr/>
          <p:nvPr/>
        </p:nvSpPr>
        <p:spPr>
          <a:xfrm>
            <a:off x="5238750" y="13287375"/>
            <a:ext cx="352425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2400" dirty="0"/>
          </a:p>
        </p:txBody>
      </p:sp>
      <p:sp>
        <p:nvSpPr>
          <p:cNvPr id="574" name="textbox 574"/>
          <p:cNvSpPr/>
          <p:nvPr/>
        </p:nvSpPr>
        <p:spPr>
          <a:xfrm>
            <a:off x="1457325" y="12541810"/>
            <a:ext cx="7562850" cy="523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Relational Data Model Structure</a:t>
            </a:r>
            <a:endParaRPr sz="3200" dirty="0"/>
          </a:p>
        </p:txBody>
      </p:sp>
      <p:sp>
        <p:nvSpPr>
          <p:cNvPr id="576" name="textbox 576"/>
          <p:cNvSpPr/>
          <p:nvPr/>
        </p:nvSpPr>
        <p:spPr>
          <a:xfrm>
            <a:off x="1457325" y="13546699"/>
            <a:ext cx="13096875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Centered around </a:t>
            </a:r>
            <a:r>
              <a:rPr sz="3200" b="1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APPLICANT_ACCOUNT</a:t>
            </a:r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and </a:t>
            </a:r>
            <a:r>
              <a:rPr sz="3200" b="1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APPLICANT_PROFILE</a:t>
            </a:r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the</a:t>
            </a:r>
            <a:endParaRPr sz="3200" dirty="0"/>
          </a:p>
          <a:p>
            <a:pPr algn="l" rtl="0" eaLnBrk="0">
              <a:spcBef>
                <a:spcPts val="1200"/>
              </a:spcBef>
            </a:pPr>
            <a:r>
              <a:rPr sz="3200" kern="0" spc="0" dirty="0">
                <a:solidFill>
                  <a:srgbClr val="45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consists of 8 core normalized entities in 3NF:</a:t>
            </a:r>
            <a:endParaRPr sz="3200" dirty="0"/>
          </a:p>
        </p:txBody>
      </p:sp>
      <p:pic>
        <p:nvPicPr>
          <p:cNvPr id="580" name="picture 5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15387639"/>
            <a:ext cx="485775" cy="438150"/>
          </a:xfrm>
          <a:prstGeom prst="rect">
            <a:avLst/>
          </a:prstGeom>
        </p:spPr>
      </p:pic>
      <p:sp>
        <p:nvSpPr>
          <p:cNvPr id="582" name="textbox 582"/>
          <p:cNvSpPr/>
          <p:nvPr/>
        </p:nvSpPr>
        <p:spPr>
          <a:xfrm>
            <a:off x="2028825" y="15387639"/>
            <a:ext cx="11896725" cy="1085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APPLICANT_ACCOUNT: </a:t>
            </a: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Stores credentials ('account_id', 'email',</a:t>
            </a:r>
            <a:endParaRPr sz="3200" dirty="0"/>
          </a:p>
          <a:p>
            <a:pPr algn="l" rtl="0" eaLnBrk="0">
              <a:spcBef>
                <a:spcPts val="1125"/>
              </a:spcBef>
            </a:pP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`password_hash').</a:t>
            </a:r>
            <a:endParaRPr sz="3200" dirty="0"/>
          </a:p>
        </p:txBody>
      </p:sp>
      <p:pic>
        <p:nvPicPr>
          <p:cNvPr id="586" name="picture 5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9175" y="12922024"/>
            <a:ext cx="485775" cy="438150"/>
          </a:xfrm>
          <a:prstGeom prst="rect">
            <a:avLst/>
          </a:prstGeom>
        </p:spPr>
      </p:pic>
      <p:sp>
        <p:nvSpPr>
          <p:cNvPr id="588" name="textbox 588"/>
          <p:cNvSpPr/>
          <p:nvPr/>
        </p:nvSpPr>
        <p:spPr>
          <a:xfrm>
            <a:off x="17002125" y="12922024"/>
            <a:ext cx="13696950" cy="990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D353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APPLICANT_PROFILE: </a:t>
            </a:r>
            <a:r>
              <a:rPr sz="3200" kern="0" spc="0" dirty="0">
                <a:solidFill>
                  <a:srgbClr val="333E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Central profile store ('profile_id', personal summary,</a:t>
            </a:r>
            <a:endParaRPr sz="3200" dirty="0"/>
          </a:p>
          <a:p>
            <a:pPr algn="l" rtl="0" eaLnBrk="0"/>
            <a:r>
              <a:rPr sz="3200" kern="0" spc="0" dirty="0">
                <a:solidFill>
                  <a:srgbClr val="333E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contact details).</a:t>
            </a:r>
            <a:endParaRPr sz="3200" dirty="0"/>
          </a:p>
        </p:txBody>
      </p:sp>
      <p:pic>
        <p:nvPicPr>
          <p:cNvPr id="592" name="picture 5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9175" y="14474599"/>
            <a:ext cx="485775" cy="438150"/>
          </a:xfrm>
          <a:prstGeom prst="rect">
            <a:avLst/>
          </a:prstGeom>
        </p:spPr>
      </p:pic>
      <p:sp>
        <p:nvSpPr>
          <p:cNvPr id="594" name="textbox 594"/>
          <p:cNvSpPr/>
          <p:nvPr/>
        </p:nvSpPr>
        <p:spPr>
          <a:xfrm>
            <a:off x="17002125" y="14474599"/>
            <a:ext cx="13125450" cy="1000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08090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Sub-Tables (1:N PK/FK Relationships): </a:t>
            </a: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CAREER_HISTORY, EDUCATION,</a:t>
            </a:r>
            <a:endParaRPr sz="3200" dirty="0"/>
          </a:p>
          <a:p>
            <a:pPr algn="l" rtl="0" eaLnBrk="0">
              <a:spcBef>
                <a:spcPts val="975"/>
              </a:spcBef>
            </a:pPr>
            <a:r>
              <a:rPr sz="3200" kern="0" spc="0" dirty="0">
                <a:solidFill>
                  <a:srgbClr val="36414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CERTIFICATION, SKILL, LANGUAGE, and RESUME_FILE.</a:t>
            </a:r>
            <a:endParaRPr sz="3200" dirty="0"/>
          </a:p>
        </p:txBody>
      </p:sp>
      <p:pic>
        <p:nvPicPr>
          <p:cNvPr id="598" name="picture 5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59175" y="15970024"/>
            <a:ext cx="485775" cy="495300"/>
          </a:xfrm>
          <a:prstGeom prst="rect">
            <a:avLst/>
          </a:prstGeom>
        </p:spPr>
      </p:pic>
      <p:sp>
        <p:nvSpPr>
          <p:cNvPr id="600" name="textbox 600"/>
          <p:cNvSpPr/>
          <p:nvPr/>
        </p:nvSpPr>
        <p:spPr>
          <a:xfrm>
            <a:off x="17002125" y="16008124"/>
            <a:ext cx="11182350" cy="1038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Cascading Rules: </a:t>
            </a:r>
            <a:r>
              <a:rPr sz="3200" kern="0" spc="0" dirty="0">
                <a:solidFill>
                  <a:srgbClr val="2C3C4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Strict foreign key integrity enforcement on</a:t>
            </a:r>
            <a:endParaRPr sz="3200" dirty="0"/>
          </a:p>
          <a:p>
            <a:pPr algn="l" rtl="0" eaLnBrk="0">
              <a:spcBef>
                <a:spcPts val="675"/>
              </a:spcBef>
            </a:pPr>
            <a:r>
              <a:rPr sz="3200" kern="0" spc="0" dirty="0">
                <a:solidFill>
                  <a:srgbClr val="2C3C4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deletion/updates.</a:t>
            </a:r>
            <a:endParaRPr sz="3200" dirty="0"/>
          </a:p>
        </p:txBody>
      </p:sp>
      <p:sp>
        <p:nvSpPr>
          <p:cNvPr id="602" name="textbox 602"/>
          <p:cNvSpPr/>
          <p:nvPr/>
        </p:nvSpPr>
        <p:spPr>
          <a:xfrm>
            <a:off x="1285875" y="17430750"/>
            <a:ext cx="5000625" cy="304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Database Schema Implementation</a:t>
            </a:r>
            <a:endParaRPr sz="2400" dirty="0"/>
          </a:p>
        </p:txBody>
      </p:sp>
      <p:sp>
        <p:nvSpPr>
          <p:cNvPr id="604" name="textbox 604"/>
          <p:cNvSpPr/>
          <p:nvPr/>
        </p:nvSpPr>
        <p:spPr>
          <a:xfrm>
            <a:off x="29232225" y="17411700"/>
            <a:ext cx="201930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13 of 20</a:t>
            </a:r>
            <a:endParaRPr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13633A-8EED-29E9-0C88-7595C69901C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857" y="2481264"/>
            <a:ext cx="30567086" cy="88244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picture 6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10" name="textbox 610"/>
          <p:cNvSpPr/>
          <p:nvPr/>
        </p:nvSpPr>
        <p:spPr>
          <a:xfrm>
            <a:off x="1285875" y="1238250"/>
            <a:ext cx="1737360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0B1A2E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Front-End Engineering: </a:t>
            </a:r>
            <a:r>
              <a:rPr sz="6400" b="1" kern="0" spc="0" dirty="0">
                <a:solidFill>
                  <a:srgbClr val="1E50D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Figma to Web Translation</a:t>
            </a:r>
            <a:endParaRPr sz="6400" dirty="0"/>
          </a:p>
        </p:txBody>
      </p:sp>
      <p:sp>
        <p:nvSpPr>
          <p:cNvPr id="612" name="textbox 612"/>
          <p:cNvSpPr/>
          <p:nvPr/>
        </p:nvSpPr>
        <p:spPr>
          <a:xfrm>
            <a:off x="1209675" y="2600325"/>
            <a:ext cx="29784675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visual wireframes were successfully transformed into functional web pages. Below is the side-by-side comparison illustrating pixel-perfect fidelity from Figma</a:t>
            </a:r>
            <a:endParaRPr sz="3200" dirty="0"/>
          </a:p>
          <a:p>
            <a:pPr algn="l" rtl="0" eaLnBrk="0">
              <a:spcBef>
                <a:spcPts val="750"/>
              </a:spcBef>
            </a:pPr>
            <a:r>
              <a:rPr sz="32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prototype to HTML/CSS layout.</a:t>
            </a:r>
            <a:endParaRPr sz="3200" dirty="0"/>
          </a:p>
        </p:txBody>
      </p:sp>
      <p:sp>
        <p:nvSpPr>
          <p:cNvPr id="614" name="textbox 614"/>
          <p:cNvSpPr/>
          <p:nvPr/>
        </p:nvSpPr>
        <p:spPr>
          <a:xfrm>
            <a:off x="5295900" y="4848225"/>
            <a:ext cx="6543675" cy="495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206DC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High-Fidelity Figma Specification</a:t>
            </a:r>
            <a:endParaRPr sz="3200" dirty="0"/>
          </a:p>
        </p:txBody>
      </p:sp>
      <p:sp>
        <p:nvSpPr>
          <p:cNvPr id="616" name="textbox 616"/>
          <p:cNvSpPr/>
          <p:nvPr/>
        </p:nvSpPr>
        <p:spPr>
          <a:xfrm>
            <a:off x="20612100" y="4848225"/>
            <a:ext cx="6638925" cy="495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lang="en-US" altLang="zh-CN" sz="3200" b="1" kern="0" spc="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&lt;/&gt;</a:t>
            </a:r>
            <a:r>
              <a:rPr sz="3200" b="1" kern="0" spc="0" dirty="0">
                <a:solidFill>
                  <a:srgbClr val="00B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Implemented HTML Layout</a:t>
            </a:r>
            <a:endParaRPr sz="3200" dirty="0"/>
          </a:p>
        </p:txBody>
      </p:sp>
      <p:sp>
        <p:nvSpPr>
          <p:cNvPr id="618" name="textbox 618"/>
          <p:cNvSpPr/>
          <p:nvPr/>
        </p:nvSpPr>
        <p:spPr>
          <a:xfrm>
            <a:off x="2219325" y="5610225"/>
            <a:ext cx="12706350" cy="95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8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Two-column modular design with personal contact details on the left and career</a:t>
            </a:r>
            <a:endParaRPr sz="2700" dirty="0"/>
          </a:p>
          <a:p>
            <a:pPr marL="1285875"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808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materials (Skills, Languages, Resume, Experience) on the right.</a:t>
            </a:r>
            <a:endParaRPr sz="2700" dirty="0"/>
          </a:p>
        </p:txBody>
      </p:sp>
      <p:sp>
        <p:nvSpPr>
          <p:cNvPr id="620" name="textbox 620"/>
          <p:cNvSpPr/>
          <p:nvPr/>
        </p:nvSpPr>
        <p:spPr>
          <a:xfrm>
            <a:off x="17849850" y="5610225"/>
            <a:ext cx="12192000" cy="952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Functional front-end code replicating exact element spacing, dynamic button</a:t>
            </a:r>
            <a:endParaRPr sz="2700" dirty="0"/>
          </a:p>
          <a:p>
            <a:pPr marL="1314450"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778495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triggers, typography scale, and responsive layout behavior.</a:t>
            </a:r>
            <a:endParaRPr sz="2700" dirty="0"/>
          </a:p>
        </p:txBody>
      </p:sp>
      <p:sp>
        <p:nvSpPr>
          <p:cNvPr id="622" name="textbox 622"/>
          <p:cNvSpPr/>
          <p:nvPr/>
        </p:nvSpPr>
        <p:spPr>
          <a:xfrm>
            <a:off x="1657350" y="15230475"/>
            <a:ext cx="28098750" cy="971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b="1" kern="0" spc="0" dirty="0">
                <a:solidFill>
                  <a:srgbClr val="1637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Dictionary Standardization: </a:t>
            </a:r>
            <a:r>
              <a:rPr sz="2700" kern="0" spc="0" dirty="0">
                <a:solidFill>
                  <a:srgbClr val="1637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Resolved semantic model conflicts between team members (e.g., unifying "applicant" vs "candidate" definitions) to create a standardized data</a:t>
            </a:r>
            <a:endParaRPr sz="2700" dirty="0"/>
          </a:p>
          <a:p>
            <a:pPr algn="l" rtl="0" eaLnBrk="0">
              <a:spcBef>
                <a:spcPts val="675"/>
              </a:spcBef>
            </a:pPr>
            <a:r>
              <a:rPr sz="2700" kern="0" spc="0" dirty="0">
                <a:solidFill>
                  <a:srgbClr val="16379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dictionary for layout generation.</a:t>
            </a:r>
            <a:endParaRPr sz="2700" dirty="0"/>
          </a:p>
        </p:txBody>
      </p:sp>
      <p:sp>
        <p:nvSpPr>
          <p:cNvPr id="624" name="textbox 624"/>
          <p:cNvSpPr/>
          <p:nvPr/>
        </p:nvSpPr>
        <p:spPr>
          <a:xfrm>
            <a:off x="1266825" y="17411700"/>
            <a:ext cx="38385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6A6A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UI Engineering Translation</a:t>
            </a:r>
            <a:endParaRPr sz="2400" dirty="0"/>
          </a:p>
        </p:txBody>
      </p:sp>
      <p:sp>
        <p:nvSpPr>
          <p:cNvPr id="626" name="textbox 626"/>
          <p:cNvSpPr/>
          <p:nvPr/>
        </p:nvSpPr>
        <p:spPr>
          <a:xfrm>
            <a:off x="29232225" y="17411700"/>
            <a:ext cx="19812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9BAFB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14 of 20</a:t>
            </a:r>
            <a:endParaRPr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6809C3-CDAE-08E3-0F9A-EE9BAF9FC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6397" y="6634676"/>
            <a:ext cx="10315932" cy="73765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C35BD9F-0B22-43A5-C6B4-01A42B17E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5184" y="6928947"/>
            <a:ext cx="11841332" cy="67880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picture 6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32" name="textbox 632"/>
          <p:cNvSpPr/>
          <p:nvPr/>
        </p:nvSpPr>
        <p:spPr>
          <a:xfrm>
            <a:off x="1285875" y="1209675"/>
            <a:ext cx="13849350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Analysis: </a:t>
            </a:r>
            <a:r>
              <a:rPr sz="61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System Strengths</a:t>
            </a:r>
            <a:endParaRPr sz="6100" dirty="0"/>
          </a:p>
        </p:txBody>
      </p:sp>
      <p:pic>
        <p:nvPicPr>
          <p:cNvPr id="636" name="picture 6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514725"/>
            <a:ext cx="714375" cy="676275"/>
          </a:xfrm>
          <a:prstGeom prst="rect">
            <a:avLst/>
          </a:prstGeom>
        </p:spPr>
      </p:pic>
      <p:pic>
        <p:nvPicPr>
          <p:cNvPr id="640" name="picture 6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350" y="3562350"/>
            <a:ext cx="742950" cy="571500"/>
          </a:xfrm>
          <a:prstGeom prst="rect">
            <a:avLst/>
          </a:prstGeom>
        </p:spPr>
      </p:pic>
      <p:pic>
        <p:nvPicPr>
          <p:cNvPr id="644" name="picture 6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36150" y="3543300"/>
            <a:ext cx="714375" cy="590550"/>
          </a:xfrm>
          <a:prstGeom prst="rect">
            <a:avLst/>
          </a:prstGeom>
        </p:spPr>
      </p:pic>
      <p:sp>
        <p:nvSpPr>
          <p:cNvPr id="646" name="textbox 646"/>
          <p:cNvSpPr/>
          <p:nvPr/>
        </p:nvSpPr>
        <p:spPr>
          <a:xfrm>
            <a:off x="1914525" y="4953000"/>
            <a:ext cx="56578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Seamless User Journeys</a:t>
            </a:r>
            <a:endParaRPr sz="4000" dirty="0"/>
          </a:p>
        </p:txBody>
      </p:sp>
      <p:sp>
        <p:nvSpPr>
          <p:cNvPr id="648" name="textbox 648"/>
          <p:cNvSpPr/>
          <p:nvPr/>
        </p:nvSpPr>
        <p:spPr>
          <a:xfrm>
            <a:off x="12068175" y="4953000"/>
            <a:ext cx="6858000" cy="504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Normalized 3NF Architecture</a:t>
            </a:r>
            <a:endParaRPr sz="4300" dirty="0"/>
          </a:p>
        </p:txBody>
      </p:sp>
      <p:sp>
        <p:nvSpPr>
          <p:cNvPr id="650" name="textbox 650"/>
          <p:cNvSpPr/>
          <p:nvPr/>
        </p:nvSpPr>
        <p:spPr>
          <a:xfrm>
            <a:off x="22240875" y="4953000"/>
            <a:ext cx="6276975" cy="542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Focused &amp; Cost-Effective</a:t>
            </a:r>
            <a:endParaRPr sz="4300" dirty="0"/>
          </a:p>
        </p:txBody>
      </p:sp>
      <p:sp>
        <p:nvSpPr>
          <p:cNvPr id="652" name="textbox 652"/>
          <p:cNvSpPr/>
          <p:nvPr/>
        </p:nvSpPr>
        <p:spPr>
          <a:xfrm>
            <a:off x="1885950" y="5829300"/>
            <a:ext cx="8191500" cy="3409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Complete end-to-end mapping of user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journeys across high-fidelity wireframes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guarantees visual and operational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consistency, dramatically reducing cognitive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friction for both candidates and HR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recruiters.</a:t>
            </a:r>
            <a:endParaRPr sz="3200" dirty="0"/>
          </a:p>
        </p:txBody>
      </p:sp>
      <p:sp>
        <p:nvSpPr>
          <p:cNvPr id="654" name="textbox 654"/>
          <p:cNvSpPr/>
          <p:nvPr/>
        </p:nvSpPr>
        <p:spPr>
          <a:xfrm>
            <a:off x="12030075" y="5829300"/>
            <a:ext cx="8248650" cy="283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Applicant Database normalized to Third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Normal Form (3NF) eliminates data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redundancy, guarantees transactional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integrity, and prevents relational update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anomalies.</a:t>
            </a:r>
            <a:endParaRPr sz="2900" dirty="0"/>
          </a:p>
        </p:txBody>
      </p:sp>
      <p:sp>
        <p:nvSpPr>
          <p:cNvPr id="656" name="textbox 656"/>
          <p:cNvSpPr/>
          <p:nvPr/>
        </p:nvSpPr>
        <p:spPr>
          <a:xfrm>
            <a:off x="22212300" y="5829300"/>
            <a:ext cx="8277225" cy="224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Eliminates expensive, bloated enterprise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features in favor of a lean, secure, and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customizable web portal directly aligned with</a:t>
            </a:r>
            <a:endParaRPr sz="2900" dirty="0"/>
          </a:p>
          <a:p>
            <a:pPr algn="l" rtl="0" eaLnBrk="0">
              <a:spcBef>
                <a:spcPts val="1425"/>
              </a:spcBef>
            </a:pPr>
            <a:r>
              <a:rPr sz="2900" kern="0" spc="0" dirty="0">
                <a:solidFill>
                  <a:srgbClr val="51606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corporate hiring needs.</a:t>
            </a:r>
            <a:endParaRPr sz="2900" dirty="0"/>
          </a:p>
        </p:txBody>
      </p:sp>
      <p:sp>
        <p:nvSpPr>
          <p:cNvPr id="658" name="textbox 658"/>
          <p:cNvSpPr/>
          <p:nvPr/>
        </p:nvSpPr>
        <p:spPr>
          <a:xfrm>
            <a:off x="1266825" y="17411700"/>
            <a:ext cx="41338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 - Strengths</a:t>
            </a:r>
            <a:endParaRPr sz="2400" dirty="0"/>
          </a:p>
        </p:txBody>
      </p:sp>
      <p:sp>
        <p:nvSpPr>
          <p:cNvPr id="660" name="textbox 660"/>
          <p:cNvSpPr/>
          <p:nvPr/>
        </p:nvSpPr>
        <p:spPr>
          <a:xfrm>
            <a:off x="29270325" y="17411700"/>
            <a:ext cx="19431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99A8B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15 of 20</a:t>
            </a:r>
            <a:endParaRPr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picture 6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66" name="textbox 666"/>
          <p:cNvSpPr/>
          <p:nvPr/>
        </p:nvSpPr>
        <p:spPr>
          <a:xfrm>
            <a:off x="1314450" y="1238250"/>
            <a:ext cx="12801600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Analysis: </a:t>
            </a:r>
            <a:r>
              <a:rPr sz="61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Current Limitations</a:t>
            </a:r>
            <a:endParaRPr sz="6100" dirty="0"/>
          </a:p>
        </p:txBody>
      </p:sp>
      <p:sp>
        <p:nvSpPr>
          <p:cNvPr id="668" name="textbox 668"/>
          <p:cNvSpPr/>
          <p:nvPr/>
        </p:nvSpPr>
        <p:spPr>
          <a:xfrm>
            <a:off x="1285875" y="2619375"/>
            <a:ext cx="22688550" cy="428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5959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rigorous critical evaluation identifies three core technical limitations currently being addressed in Phase 2 of development:</a:t>
            </a:r>
            <a:endParaRPr sz="3200" dirty="0"/>
          </a:p>
        </p:txBody>
      </p:sp>
      <p:pic>
        <p:nvPicPr>
          <p:cNvPr id="672" name="picture 6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875" y="4276725"/>
            <a:ext cx="590550" cy="571500"/>
          </a:xfrm>
          <a:prstGeom prst="rect">
            <a:avLst/>
          </a:prstGeom>
        </p:spPr>
      </p:pic>
      <p:sp>
        <p:nvSpPr>
          <p:cNvPr id="674" name="textbox 674"/>
          <p:cNvSpPr/>
          <p:nvPr/>
        </p:nvSpPr>
        <p:spPr>
          <a:xfrm>
            <a:off x="2800350" y="4276725"/>
            <a:ext cx="7867650" cy="552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514350" indent="-514350" algn="l" rtl="0" eaLnBrk="0">
              <a:buAutoNum type="arabicPeriod"/>
            </a:pPr>
            <a:r>
              <a:rPr sz="4300" kern="0" spc="0" dirty="0">
                <a:solidFill>
                  <a:srgbClr val="E48312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Schema Integration Unification</a:t>
            </a:r>
            <a:endParaRPr sz="4300" dirty="0"/>
          </a:p>
        </p:txBody>
      </p:sp>
      <p:pic>
        <p:nvPicPr>
          <p:cNvPr id="678" name="picture 6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30750" y="4276725"/>
            <a:ext cx="742950" cy="571500"/>
          </a:xfrm>
          <a:prstGeom prst="rect">
            <a:avLst/>
          </a:prstGeom>
        </p:spPr>
      </p:pic>
      <p:sp>
        <p:nvSpPr>
          <p:cNvPr id="680" name="textbox 680"/>
          <p:cNvSpPr/>
          <p:nvPr/>
        </p:nvSpPr>
        <p:spPr>
          <a:xfrm>
            <a:off x="18335625" y="4276725"/>
            <a:ext cx="8924925" cy="58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600075" indent="-600075" algn="l" rtl="0" eaLnBrk="0">
              <a:buAutoNum type="arabicPeriod" startAt="2"/>
            </a:pPr>
            <a:r>
              <a:rPr sz="4300" b="1" kern="0" spc="0" dirty="0">
                <a:solidFill>
                  <a:srgbClr val="CC181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Dynamic Backend API Data Binding</a:t>
            </a:r>
            <a:endParaRPr sz="4300" dirty="0"/>
          </a:p>
        </p:txBody>
      </p:sp>
      <p:sp>
        <p:nvSpPr>
          <p:cNvPr id="682" name="textbox 682"/>
          <p:cNvSpPr/>
          <p:nvPr/>
        </p:nvSpPr>
        <p:spPr>
          <a:xfrm>
            <a:off x="2047875" y="5143500"/>
            <a:ext cx="12811125" cy="149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While the Applicant database structure is fully specified in 3NF, the standalone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ERDs for HR Job Vacancies and Candidate Evaluation modules are currently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575F6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undergoing consolidation into a single enterprise-wide SQL schema.</a:t>
            </a:r>
            <a:endParaRPr sz="2700" dirty="0"/>
          </a:p>
        </p:txBody>
      </p:sp>
      <p:sp>
        <p:nvSpPr>
          <p:cNvPr id="684" name="textbox 684"/>
          <p:cNvSpPr/>
          <p:nvPr/>
        </p:nvSpPr>
        <p:spPr>
          <a:xfrm>
            <a:off x="17430750" y="5143500"/>
            <a:ext cx="11963400" cy="149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The current user interface operates as a static web skeleton. Active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development is underway to bind front-end views with live SQL database</a:t>
            </a:r>
            <a:endParaRPr sz="2700" dirty="0"/>
          </a:p>
          <a:p>
            <a:pPr algn="l" rtl="0" eaLnBrk="0">
              <a:spcBef>
                <a:spcPts val="1200"/>
              </a:spcBef>
            </a:pPr>
            <a:r>
              <a:rPr sz="27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queries via RESTful backend APIs.</a:t>
            </a:r>
            <a:endParaRPr sz="2700" dirty="0"/>
          </a:p>
        </p:txBody>
      </p:sp>
      <p:sp>
        <p:nvSpPr>
          <p:cNvPr id="686" name="textbox 686"/>
          <p:cNvSpPr/>
          <p:nvPr/>
        </p:nvSpPr>
        <p:spPr>
          <a:xfrm>
            <a:off x="1752600" y="15182850"/>
            <a:ext cx="27089100" cy="962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1057275" indent="-438150" algn="l" rtl="0" eaLnBrk="0">
              <a:buAutoNum type="arabicPeriod" startAt="3"/>
            </a:pPr>
            <a:r>
              <a:rPr sz="2900" b="1" kern="0" spc="0" dirty="0">
                <a:solidFill>
                  <a:srgbClr val="B25E2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Notification Service Execution: </a:t>
            </a:r>
            <a:r>
              <a:rPr sz="2900" kern="0" spc="0" dirty="0">
                <a:solidFill>
                  <a:srgbClr val="B25E2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event handlers designed for automated candidate notifications (Aim E) are logically modeled in UML but pending full</a:t>
            </a:r>
            <a:endParaRPr sz="2900" dirty="0"/>
          </a:p>
          <a:p>
            <a:pPr algn="l" rtl="0" eaLnBrk="0">
              <a:spcBef>
                <a:spcPts val="600"/>
              </a:spcBef>
            </a:pPr>
            <a:r>
              <a:rPr sz="2900" kern="0" spc="0" dirty="0">
                <a:solidFill>
                  <a:srgbClr val="B25E2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deployment on the server instance.</a:t>
            </a:r>
            <a:endParaRPr sz="2900" dirty="0"/>
          </a:p>
        </p:txBody>
      </p:sp>
      <p:sp>
        <p:nvSpPr>
          <p:cNvPr id="688" name="textbox 688"/>
          <p:cNvSpPr/>
          <p:nvPr/>
        </p:nvSpPr>
        <p:spPr>
          <a:xfrm>
            <a:off x="1266825" y="17411700"/>
            <a:ext cx="4295775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Critical Analysis - Limitations</a:t>
            </a:r>
            <a:endParaRPr sz="2400" dirty="0"/>
          </a:p>
        </p:txBody>
      </p:sp>
      <p:sp>
        <p:nvSpPr>
          <p:cNvPr id="690" name="textbox 690"/>
          <p:cNvSpPr/>
          <p:nvPr/>
        </p:nvSpPr>
        <p:spPr>
          <a:xfrm>
            <a:off x="29232225" y="17411700"/>
            <a:ext cx="20193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16 of 20</a:t>
            </a:r>
            <a:endParaRPr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4" name="picture 6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696" name="textbox 696"/>
          <p:cNvSpPr/>
          <p:nvPr/>
        </p:nvSpPr>
        <p:spPr>
          <a:xfrm>
            <a:off x="1304925" y="1209675"/>
            <a:ext cx="12839700" cy="838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100" b="1" kern="0" spc="0" dirty="0">
                <a:solidFill>
                  <a:srgbClr val="16164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Ethics, Data Privacy &amp; </a:t>
            </a:r>
            <a:r>
              <a:rPr sz="6100" b="1" kern="0" spc="0" dirty="0">
                <a:solidFill>
                  <a:srgbClr val="217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Cybersecurity</a:t>
            </a:r>
            <a:endParaRPr sz="6100" dirty="0"/>
          </a:p>
        </p:txBody>
      </p:sp>
      <p:sp>
        <p:nvSpPr>
          <p:cNvPr id="698" name="textbox 698"/>
          <p:cNvSpPr/>
          <p:nvPr/>
        </p:nvSpPr>
        <p:spPr>
          <a:xfrm>
            <a:off x="1304925" y="2600325"/>
            <a:ext cx="802957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Pillars of Architectural Safeguards</a:t>
            </a:r>
            <a:endParaRPr sz="4000" dirty="0"/>
          </a:p>
        </p:txBody>
      </p:sp>
      <p:sp>
        <p:nvSpPr>
          <p:cNvPr id="700" name="textbox 700"/>
          <p:cNvSpPr/>
          <p:nvPr/>
        </p:nvSpPr>
        <p:spPr>
          <a:xfrm>
            <a:off x="1304925" y="3495675"/>
            <a:ext cx="12839700" cy="165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Because JRS handles sensitive Personally Identifiable Information (PII)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including contact details, resumes, and career histories, strict security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safeguards are built-in:</a:t>
            </a:r>
            <a:endParaRPr sz="3200" dirty="0"/>
          </a:p>
        </p:txBody>
      </p:sp>
      <p:pic>
        <p:nvPicPr>
          <p:cNvPr id="704" name="picture 7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" y="5562600"/>
            <a:ext cx="485775" cy="457200"/>
          </a:xfrm>
          <a:prstGeom prst="rect">
            <a:avLst/>
          </a:prstGeom>
        </p:spPr>
      </p:pic>
      <p:sp>
        <p:nvSpPr>
          <p:cNvPr id="706" name="textbox 706"/>
          <p:cNvSpPr/>
          <p:nvPr/>
        </p:nvSpPr>
        <p:spPr>
          <a:xfrm>
            <a:off x="2047875" y="5562600"/>
            <a:ext cx="13468350" cy="10763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2E3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Credential Hashing: </a:t>
            </a: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One-way secure hashing ('password_hash') prevents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2C3C5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password leakage.</a:t>
            </a:r>
            <a:endParaRPr sz="3200" dirty="0"/>
          </a:p>
        </p:txBody>
      </p:sp>
      <p:pic>
        <p:nvPicPr>
          <p:cNvPr id="710" name="picture 7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925" y="7096125"/>
            <a:ext cx="514350" cy="457200"/>
          </a:xfrm>
          <a:prstGeom prst="rect">
            <a:avLst/>
          </a:prstGeom>
        </p:spPr>
      </p:pic>
      <p:sp>
        <p:nvSpPr>
          <p:cNvPr id="712" name="textbox 712"/>
          <p:cNvSpPr/>
          <p:nvPr/>
        </p:nvSpPr>
        <p:spPr>
          <a:xfrm>
            <a:off x="2047875" y="7096125"/>
            <a:ext cx="1281112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Role-Based Access Control (RBAC): </a:t>
            </a: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Restricts applicant data strictly to</a:t>
            </a:r>
            <a:endParaRPr sz="3200" dirty="0"/>
          </a:p>
          <a:p>
            <a:pPr algn="l" rtl="0" eaLnBrk="0">
              <a:spcBef>
                <a:spcPts val="1350"/>
              </a:spcBef>
            </a:pPr>
            <a:r>
              <a:rPr sz="3200" kern="0" spc="0" dirty="0">
                <a:solidFill>
                  <a:srgbClr val="31424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authorized corporate HR personnel.</a:t>
            </a:r>
            <a:endParaRPr sz="3200" dirty="0"/>
          </a:p>
        </p:txBody>
      </p:sp>
      <p:pic>
        <p:nvPicPr>
          <p:cNvPr id="716" name="picture 7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925" y="8648700"/>
            <a:ext cx="514350" cy="457200"/>
          </a:xfrm>
          <a:prstGeom prst="rect">
            <a:avLst/>
          </a:prstGeom>
        </p:spPr>
      </p:pic>
      <p:sp>
        <p:nvSpPr>
          <p:cNvPr id="718" name="textbox 718"/>
          <p:cNvSpPr/>
          <p:nvPr/>
        </p:nvSpPr>
        <p:spPr>
          <a:xfrm>
            <a:off x="2047875" y="8648700"/>
            <a:ext cx="13496925" cy="1057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b="1" kern="0" spc="0" dirty="0">
                <a:solidFill>
                  <a:srgbClr val="1A1A4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Algorithmic Fairness: </a:t>
            </a:r>
            <a:r>
              <a:rPr sz="3200" kern="0" spc="0" dirty="0">
                <a:solidFill>
                  <a:srgbClr val="3242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Transparent "human-in-the-loop" HR reviews avoid</a:t>
            </a:r>
            <a:endParaRPr sz="3200" dirty="0"/>
          </a:p>
          <a:p>
            <a:pPr algn="l" rtl="0" eaLnBrk="0">
              <a:spcBef>
                <a:spcPts val="900"/>
              </a:spcBef>
            </a:pPr>
            <a:r>
              <a:rPr sz="3200" kern="0" spc="0" dirty="0">
                <a:solidFill>
                  <a:srgbClr val="32425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systemic automated rejection bias.</a:t>
            </a:r>
            <a:endParaRPr sz="3200" dirty="0"/>
          </a:p>
        </p:txBody>
      </p:sp>
      <p:pic>
        <p:nvPicPr>
          <p:cNvPr id="722" name="picture 7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78275" y="5448300"/>
            <a:ext cx="14478000" cy="8153400"/>
          </a:xfrm>
          <a:prstGeom prst="rect">
            <a:avLst/>
          </a:prstGeom>
        </p:spPr>
      </p:pic>
      <p:sp>
        <p:nvSpPr>
          <p:cNvPr id="724" name="textbox 724"/>
          <p:cNvSpPr/>
          <p:nvPr/>
        </p:nvSpPr>
        <p:spPr>
          <a:xfrm>
            <a:off x="1304925" y="17411700"/>
            <a:ext cx="4286250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99A8B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Ethics &amp; Security Compliance</a:t>
            </a:r>
            <a:endParaRPr sz="2700" dirty="0"/>
          </a:p>
        </p:txBody>
      </p:sp>
      <p:sp>
        <p:nvSpPr>
          <p:cNvPr id="726" name="textbox 726"/>
          <p:cNvSpPr/>
          <p:nvPr/>
        </p:nvSpPr>
        <p:spPr>
          <a:xfrm>
            <a:off x="29270325" y="17411700"/>
            <a:ext cx="1943100" cy="323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17 of 20</a:t>
            </a:r>
            <a:endParaRPr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picture 7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732" name="textbox 732"/>
          <p:cNvSpPr/>
          <p:nvPr/>
        </p:nvSpPr>
        <p:spPr>
          <a:xfrm>
            <a:off x="1266825" y="1209675"/>
            <a:ext cx="12715875" cy="86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64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Regulatory Compliance</a:t>
            </a:r>
            <a:r>
              <a:rPr sz="6400" b="1" kern="0" spc="0" dirty="0">
                <a:solidFill>
                  <a:srgbClr val="1E56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Framework</a:t>
            </a:r>
            <a:endParaRPr sz="6400" dirty="0"/>
          </a:p>
        </p:txBody>
      </p:sp>
      <p:pic>
        <p:nvPicPr>
          <p:cNvPr id="736" name="picture 7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50" y="3514725"/>
            <a:ext cx="819150" cy="657225"/>
          </a:xfrm>
          <a:prstGeom prst="rect">
            <a:avLst/>
          </a:prstGeom>
        </p:spPr>
      </p:pic>
      <p:pic>
        <p:nvPicPr>
          <p:cNvPr id="740" name="picture 7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0" y="3514725"/>
            <a:ext cx="819150" cy="657225"/>
          </a:xfrm>
          <a:prstGeom prst="rect">
            <a:avLst/>
          </a:prstGeom>
        </p:spPr>
      </p:pic>
      <p:pic>
        <p:nvPicPr>
          <p:cNvPr id="744" name="picture 7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64725" y="3514725"/>
            <a:ext cx="657225" cy="657225"/>
          </a:xfrm>
          <a:prstGeom prst="rect">
            <a:avLst/>
          </a:prstGeom>
        </p:spPr>
      </p:pic>
      <p:sp>
        <p:nvSpPr>
          <p:cNvPr id="746" name="textbox 746"/>
          <p:cNvSpPr/>
          <p:nvPr/>
        </p:nvSpPr>
        <p:spPr>
          <a:xfrm>
            <a:off x="1885950" y="4933950"/>
            <a:ext cx="6438900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2C2B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Australian Privacy Act 1988</a:t>
            </a:r>
            <a:endParaRPr sz="4000" dirty="0"/>
          </a:p>
        </p:txBody>
      </p:sp>
      <p:sp>
        <p:nvSpPr>
          <p:cNvPr id="748" name="textbox 748"/>
          <p:cNvSpPr/>
          <p:nvPr/>
        </p:nvSpPr>
        <p:spPr>
          <a:xfrm>
            <a:off x="12068175" y="4933950"/>
            <a:ext cx="4772025" cy="561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ACSC ISM Standard</a:t>
            </a:r>
            <a:endParaRPr sz="4300" dirty="0"/>
          </a:p>
        </p:txBody>
      </p:sp>
      <p:sp>
        <p:nvSpPr>
          <p:cNvPr id="750" name="textbox 750"/>
          <p:cNvSpPr/>
          <p:nvPr/>
        </p:nvSpPr>
        <p:spPr>
          <a:xfrm>
            <a:off x="22240875" y="4933950"/>
            <a:ext cx="6181725" cy="609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OWASP Top 10 Guidelines</a:t>
            </a:r>
            <a:endParaRPr sz="4300" dirty="0"/>
          </a:p>
        </p:txBody>
      </p:sp>
      <p:sp>
        <p:nvSpPr>
          <p:cNvPr id="752" name="textbox 752"/>
          <p:cNvSpPr/>
          <p:nvPr/>
        </p:nvSpPr>
        <p:spPr>
          <a:xfrm>
            <a:off x="1885950" y="5829300"/>
            <a:ext cx="8372475" cy="224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Strictly adheres to Australian Privacy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Principles (APPs) governing lawful collection,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storage, use, and destruction of candidate PII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documents.</a:t>
            </a:r>
            <a:endParaRPr sz="2900" dirty="0"/>
          </a:p>
        </p:txBody>
      </p:sp>
      <p:sp>
        <p:nvSpPr>
          <p:cNvPr id="754" name="textbox 754"/>
          <p:cNvSpPr/>
          <p:nvPr/>
        </p:nvSpPr>
        <p:spPr>
          <a:xfrm>
            <a:off x="12030075" y="5829300"/>
            <a:ext cx="7781925" cy="2276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Aligned with the Australian Cyber Security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Centre Information Security Manual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guidelines for secure software design and</a:t>
            </a:r>
            <a:endParaRPr sz="3200" dirty="0"/>
          </a:p>
          <a:p>
            <a:pPr algn="l" rtl="0" eaLnBrk="0">
              <a:spcBef>
                <a:spcPts val="1050"/>
              </a:spcBef>
            </a:pPr>
            <a:r>
              <a:rPr sz="3200" kern="0" spc="0" dirty="0">
                <a:solidFill>
                  <a:srgbClr val="44546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 handling.</a:t>
            </a:r>
            <a:endParaRPr sz="3200" dirty="0"/>
          </a:p>
        </p:txBody>
      </p:sp>
      <p:sp>
        <p:nvSpPr>
          <p:cNvPr id="756" name="textbox 756"/>
          <p:cNvSpPr/>
          <p:nvPr/>
        </p:nvSpPr>
        <p:spPr>
          <a:xfrm>
            <a:off x="22212300" y="5829300"/>
            <a:ext cx="7896225" cy="2247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Implements web application security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standards protecting against SQL injection,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cross-site scripting (XSS), and broken</a:t>
            </a:r>
            <a:endParaRPr sz="2900" dirty="0"/>
          </a:p>
          <a:p>
            <a:pPr algn="l" rtl="0" eaLnBrk="0">
              <a:spcBef>
                <a:spcPts val="1350"/>
              </a:spcBef>
            </a:pPr>
            <a:r>
              <a:rPr sz="2900" kern="0" spc="0" dirty="0">
                <a:solidFill>
                  <a:srgbClr val="52627F">
                    <a:alpha val="100000"/>
                  </a:srgbClr>
                </a:solidFill>
                <a:latin typeface="Roboto"/>
                <a:ea typeface="Roboto"/>
                <a:cs typeface="Roboto"/>
              </a:rPr>
              <a:t>access controls.</a:t>
            </a:r>
            <a:endParaRPr sz="2900" dirty="0"/>
          </a:p>
        </p:txBody>
      </p:sp>
      <p:sp>
        <p:nvSpPr>
          <p:cNvPr id="758" name="textbox 758"/>
          <p:cNvSpPr/>
          <p:nvPr/>
        </p:nvSpPr>
        <p:spPr>
          <a:xfrm>
            <a:off x="1266825" y="17411700"/>
            <a:ext cx="33813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CB4B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Compliance Standards</a:t>
            </a:r>
            <a:endParaRPr sz="2700" dirty="0"/>
          </a:p>
        </p:txBody>
      </p:sp>
      <p:sp>
        <p:nvSpPr>
          <p:cNvPr id="760" name="textbox 760"/>
          <p:cNvSpPr/>
          <p:nvPr/>
        </p:nvSpPr>
        <p:spPr>
          <a:xfrm>
            <a:off x="29232225" y="17411700"/>
            <a:ext cx="19812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18 of 20</a:t>
            </a:r>
            <a:endParaRPr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picture 7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766" name="textbox 766"/>
          <p:cNvSpPr/>
          <p:nvPr/>
        </p:nvSpPr>
        <p:spPr>
          <a:xfrm>
            <a:off x="1266825" y="1238250"/>
            <a:ext cx="15773400" cy="809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5900" b="1" kern="0" spc="0" dirty="0">
                <a:solidFill>
                  <a:srgbClr val="0E19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Future Roadmap &amp; </a:t>
            </a:r>
            <a:r>
              <a:rPr sz="5900" b="1" kern="0" spc="0" dirty="0">
                <a:solidFill>
                  <a:srgbClr val="1E50E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Development Phase</a:t>
            </a:r>
            <a:endParaRPr sz="5900" dirty="0"/>
          </a:p>
        </p:txBody>
      </p:sp>
      <p:sp>
        <p:nvSpPr>
          <p:cNvPr id="768" name="textbox 768"/>
          <p:cNvSpPr/>
          <p:nvPr/>
        </p:nvSpPr>
        <p:spPr>
          <a:xfrm>
            <a:off x="1790700" y="3657600"/>
            <a:ext cx="22383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0461B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1</a:t>
            </a:r>
            <a:endParaRPr sz="2400" dirty="0"/>
          </a:p>
        </p:txBody>
      </p:sp>
      <p:sp>
        <p:nvSpPr>
          <p:cNvPr id="770" name="textbox 770"/>
          <p:cNvSpPr/>
          <p:nvPr/>
        </p:nvSpPr>
        <p:spPr>
          <a:xfrm>
            <a:off x="9363075" y="3657600"/>
            <a:ext cx="22764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317CC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2</a:t>
            </a:r>
            <a:endParaRPr sz="2400" dirty="0"/>
          </a:p>
        </p:txBody>
      </p:sp>
      <p:sp>
        <p:nvSpPr>
          <p:cNvPr id="772" name="textbox 772"/>
          <p:cNvSpPr/>
          <p:nvPr/>
        </p:nvSpPr>
        <p:spPr>
          <a:xfrm>
            <a:off x="16944975" y="3657600"/>
            <a:ext cx="22764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860C8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3</a:t>
            </a:r>
            <a:endParaRPr sz="2400" dirty="0"/>
          </a:p>
        </p:txBody>
      </p:sp>
      <p:sp>
        <p:nvSpPr>
          <p:cNvPr id="774" name="textbox 774"/>
          <p:cNvSpPr/>
          <p:nvPr/>
        </p:nvSpPr>
        <p:spPr>
          <a:xfrm>
            <a:off x="24517350" y="3657600"/>
            <a:ext cx="2276475" cy="361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b="1" kern="0" spc="0" dirty="0">
                <a:solidFill>
                  <a:srgbClr val="1D52A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MILESTONE 4</a:t>
            </a:r>
            <a:endParaRPr sz="2400" dirty="0"/>
          </a:p>
        </p:txBody>
      </p:sp>
      <p:sp>
        <p:nvSpPr>
          <p:cNvPr id="776" name="textbox 776"/>
          <p:cNvSpPr/>
          <p:nvPr/>
        </p:nvSpPr>
        <p:spPr>
          <a:xfrm>
            <a:off x="1790700" y="4276725"/>
            <a:ext cx="4743450" cy="581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6161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Schema Integration</a:t>
            </a:r>
            <a:endParaRPr sz="4300" dirty="0"/>
          </a:p>
        </p:txBody>
      </p:sp>
      <p:sp>
        <p:nvSpPr>
          <p:cNvPr id="778" name="textbox 778"/>
          <p:cNvSpPr/>
          <p:nvPr/>
        </p:nvSpPr>
        <p:spPr>
          <a:xfrm>
            <a:off x="9363075" y="4276725"/>
            <a:ext cx="5010150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Backend API Binding</a:t>
            </a:r>
            <a:endParaRPr sz="4300" dirty="0"/>
          </a:p>
        </p:txBody>
      </p:sp>
      <p:sp>
        <p:nvSpPr>
          <p:cNvPr id="780" name="textbox 780"/>
          <p:cNvSpPr/>
          <p:nvPr/>
        </p:nvSpPr>
        <p:spPr>
          <a:xfrm>
            <a:off x="16944975" y="4276725"/>
            <a:ext cx="517207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300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Notification Dispatch</a:t>
            </a:r>
            <a:endParaRPr sz="4300" dirty="0"/>
          </a:p>
        </p:txBody>
      </p:sp>
      <p:sp>
        <p:nvSpPr>
          <p:cNvPr id="782" name="textbox 782"/>
          <p:cNvSpPr/>
          <p:nvPr/>
        </p:nvSpPr>
        <p:spPr>
          <a:xfrm>
            <a:off x="24517350" y="4276725"/>
            <a:ext cx="5172075" cy="590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4000" kern="0" spc="0" dirty="0">
                <a:solidFill>
                  <a:srgbClr val="1A1A1A">
                    <a:alpha val="100000"/>
                  </a:srgbClr>
                </a:solidFill>
                <a:latin typeface="Tahoma" panose="020B0604030504040204"/>
                <a:ea typeface="Tahoma" panose="020B0604030504040204"/>
                <a:cs typeface="Tahoma" panose="020B0604030504040204"/>
              </a:rPr>
              <a:t>QA &amp; Security Testing</a:t>
            </a:r>
            <a:endParaRPr sz="4000" dirty="0"/>
          </a:p>
        </p:txBody>
      </p:sp>
      <p:sp>
        <p:nvSpPr>
          <p:cNvPr id="784" name="textbox 784"/>
          <p:cNvSpPr/>
          <p:nvPr/>
        </p:nvSpPr>
        <p:spPr>
          <a:xfrm>
            <a:off x="1790700" y="5143500"/>
            <a:ext cx="6172200" cy="142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Consolidate HR vacancy ERDs with the</a:t>
            </a:r>
            <a:endParaRPr sz="2700" dirty="0"/>
          </a:p>
          <a:p>
            <a:pPr algn="l" rtl="0" eaLnBrk="0">
              <a:spcBef>
                <a:spcPts val="97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 applicant 3NF database schema</a:t>
            </a:r>
            <a:endParaRPr sz="2700" dirty="0"/>
          </a:p>
          <a:p>
            <a:pPr algn="l" rtl="0" eaLnBrk="0">
              <a:spcBef>
                <a:spcPts val="97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into a unified script.</a:t>
            </a:r>
            <a:endParaRPr sz="2700" dirty="0"/>
          </a:p>
        </p:txBody>
      </p:sp>
      <p:sp>
        <p:nvSpPr>
          <p:cNvPr id="786" name="textbox 786"/>
          <p:cNvSpPr/>
          <p:nvPr/>
        </p:nvSpPr>
        <p:spPr>
          <a:xfrm>
            <a:off x="9363075" y="5143500"/>
            <a:ext cx="5981700" cy="143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Connect static front-end web layouts</a:t>
            </a:r>
            <a:endParaRPr sz="2700" dirty="0"/>
          </a:p>
          <a:p>
            <a:pPr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 live SQL queries using dynamic</a:t>
            </a:r>
            <a:endParaRPr sz="2700" dirty="0"/>
          </a:p>
          <a:p>
            <a:pPr algn="l" rtl="0" eaLnBrk="0">
              <a:spcBef>
                <a:spcPts val="900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REST endpoints.</a:t>
            </a:r>
            <a:endParaRPr sz="2700" dirty="0"/>
          </a:p>
        </p:txBody>
      </p:sp>
      <p:sp>
        <p:nvSpPr>
          <p:cNvPr id="788" name="textbox 788"/>
          <p:cNvSpPr/>
          <p:nvPr/>
        </p:nvSpPr>
        <p:spPr>
          <a:xfrm>
            <a:off x="16944975" y="5143500"/>
            <a:ext cx="5524500" cy="140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Deploy backend event handlers to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dispatch real-time candidate stage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notifications.</a:t>
            </a:r>
            <a:endParaRPr sz="2700" dirty="0"/>
          </a:p>
        </p:txBody>
      </p:sp>
      <p:sp>
        <p:nvSpPr>
          <p:cNvPr id="790" name="textbox 790"/>
          <p:cNvSpPr/>
          <p:nvPr/>
        </p:nvSpPr>
        <p:spPr>
          <a:xfrm>
            <a:off x="24517350" y="5143500"/>
            <a:ext cx="6048375" cy="140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Execute full system integration tests,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OWASP vulnerability checks, and final</a:t>
            </a:r>
            <a:endParaRPr sz="2700" dirty="0"/>
          </a:p>
          <a:p>
            <a:pPr algn="l" rtl="0" eaLnBrk="0">
              <a:spcBef>
                <a:spcPts val="825"/>
              </a:spcBef>
            </a:pPr>
            <a:r>
              <a:rPr sz="2700" kern="0" spc="0" dirty="0">
                <a:solidFill>
                  <a:srgbClr val="678EA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hand-off docs.</a:t>
            </a:r>
            <a:endParaRPr sz="2700" dirty="0"/>
          </a:p>
        </p:txBody>
      </p:sp>
      <p:sp>
        <p:nvSpPr>
          <p:cNvPr id="792" name="textbox 792"/>
          <p:cNvSpPr/>
          <p:nvPr/>
        </p:nvSpPr>
        <p:spPr>
          <a:xfrm>
            <a:off x="1790700" y="8210550"/>
            <a:ext cx="3962400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900" b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✅ DeliveryGuarantee:</a:t>
            </a:r>
            <a:endParaRPr sz="2900" dirty="0"/>
          </a:p>
        </p:txBody>
      </p:sp>
      <p:sp>
        <p:nvSpPr>
          <p:cNvPr id="794" name="textbox 794"/>
          <p:cNvSpPr/>
          <p:nvPr/>
        </p:nvSpPr>
        <p:spPr>
          <a:xfrm>
            <a:off x="1790700" y="8782050"/>
            <a:ext cx="2881312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53585F">
                    <a:alpha val="100000"/>
                  </a:srgbClr>
                </a:solidFill>
                <a:latin typeface="Helvetica"/>
                <a:ea typeface="Helvetica"/>
                <a:cs typeface="Helvetica"/>
              </a:rPr>
              <a:t>With 140 development hours allocated to Full-Stack Implementation and QA, the remaining deliverables are fully on track for successful completion within the scheduled timeline.</a:t>
            </a:r>
            <a:endParaRPr sz="2700" dirty="0"/>
          </a:p>
        </p:txBody>
      </p:sp>
      <p:sp>
        <p:nvSpPr>
          <p:cNvPr id="796" name="textbox 796"/>
          <p:cNvSpPr/>
          <p:nvPr/>
        </p:nvSpPr>
        <p:spPr>
          <a:xfrm>
            <a:off x="1266825" y="17411700"/>
            <a:ext cx="2571750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A6A6A6">
                    <a:alpha val="100000"/>
                  </a:srgbClr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Project Roadmap</a:t>
            </a:r>
            <a:endParaRPr sz="2700" dirty="0"/>
          </a:p>
        </p:txBody>
      </p:sp>
      <p:sp>
        <p:nvSpPr>
          <p:cNvPr id="798" name="textbox 798"/>
          <p:cNvSpPr/>
          <p:nvPr/>
        </p:nvSpPr>
        <p:spPr>
          <a:xfrm>
            <a:off x="29232225" y="17411700"/>
            <a:ext cx="198120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ADB9C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19 of 20</a:t>
            </a:r>
            <a:endParaRPr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picture 8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518350" cy="18288000"/>
          </a:xfrm>
          <a:prstGeom prst="rect">
            <a:avLst/>
          </a:prstGeom>
        </p:spPr>
      </p:pic>
      <p:sp>
        <p:nvSpPr>
          <p:cNvPr id="804" name="textbox 804"/>
          <p:cNvSpPr/>
          <p:nvPr/>
        </p:nvSpPr>
        <p:spPr>
          <a:xfrm>
            <a:off x="13592175" y="4038600"/>
            <a:ext cx="5238750" cy="1009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8000" b="1" kern="0" spc="0" dirty="0">
                <a:solidFill>
                  <a:srgbClr val="F8F8F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You!</a:t>
            </a:r>
            <a:endParaRPr sz="8000" dirty="0"/>
          </a:p>
        </p:txBody>
      </p:sp>
      <p:sp>
        <p:nvSpPr>
          <p:cNvPr id="806" name="textbox 806"/>
          <p:cNvSpPr/>
          <p:nvPr/>
        </p:nvSpPr>
        <p:spPr>
          <a:xfrm>
            <a:off x="7715250" y="5829300"/>
            <a:ext cx="17030700" cy="1247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 — Delivering an automated, secure, and user-</a:t>
            </a:r>
            <a:endParaRPr sz="3700" dirty="0"/>
          </a:p>
          <a:p>
            <a:pPr marL="4781550" algn="l" rtl="0" eaLnBrk="0">
              <a:spcBef>
                <a:spcPts val="1050"/>
              </a:spcBef>
            </a:pPr>
            <a:r>
              <a:rPr sz="3700" kern="0" spc="0" dirty="0">
                <a:solidFill>
                  <a:srgbClr val="8497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centric talent acquisition platform.</a:t>
            </a:r>
            <a:endParaRPr sz="3700" dirty="0"/>
          </a:p>
        </p:txBody>
      </p:sp>
      <p:pic>
        <p:nvPicPr>
          <p:cNvPr id="810" name="picture 8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8467725"/>
            <a:ext cx="457200" cy="419100"/>
          </a:xfrm>
          <a:prstGeom prst="rect">
            <a:avLst/>
          </a:prstGeom>
        </p:spPr>
      </p:pic>
      <p:sp>
        <p:nvSpPr>
          <p:cNvPr id="812" name="textbox 812"/>
          <p:cNvSpPr/>
          <p:nvPr/>
        </p:nvSpPr>
        <p:spPr>
          <a:xfrm>
            <a:off x="8162925" y="8467725"/>
            <a:ext cx="487680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06A1D9">
                    <a:alpha val="100000"/>
                  </a:srgbClr>
                </a:solidFill>
                <a:latin typeface="Montserrat"/>
                <a:ea typeface="Montserrat"/>
                <a:cs typeface="Montserrat"/>
              </a:rPr>
              <a:t>KEY REPORT REFERENCES</a:t>
            </a:r>
            <a:endParaRPr sz="2700" dirty="0"/>
          </a:p>
        </p:txBody>
      </p:sp>
      <p:sp>
        <p:nvSpPr>
          <p:cNvPr id="814" name="textbox 814"/>
          <p:cNvSpPr/>
          <p:nvPr/>
        </p:nvSpPr>
        <p:spPr>
          <a:xfrm>
            <a:off x="7620000" y="9220200"/>
            <a:ext cx="17230725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95275" algn="l" rtl="0" eaLnBrk="0">
              <a:buChar char="•"/>
            </a:pPr>
            <a:r>
              <a:rPr sz="2900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Australian Cyber Security Centre (ACSC) (2024) Information Security Manual (ISM). Canberra.</a:t>
            </a:r>
            <a:endParaRPr sz="2900" dirty="0">
              <a:solidFill>
                <a:schemeClr val="bg1"/>
              </a:solidFill>
            </a:endParaRPr>
          </a:p>
        </p:txBody>
      </p:sp>
      <p:sp>
        <p:nvSpPr>
          <p:cNvPr id="816" name="textbox 816"/>
          <p:cNvSpPr/>
          <p:nvPr/>
        </p:nvSpPr>
        <p:spPr>
          <a:xfrm>
            <a:off x="7610475" y="9820275"/>
            <a:ext cx="157638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95275" algn="l" rtl="0" eaLnBrk="0">
              <a:buChar char="•"/>
            </a:pPr>
            <a:r>
              <a:rPr sz="2900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Codd, E.F. (1970) 'A relational model of data for large shared data banks', </a:t>
            </a:r>
            <a:r>
              <a:rPr sz="2900" i="1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CACM</a:t>
            </a:r>
            <a:r>
              <a:rPr sz="2900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13(6).</a:t>
            </a:r>
            <a:endParaRPr sz="2900" dirty="0">
              <a:solidFill>
                <a:schemeClr val="bg1"/>
              </a:solidFill>
            </a:endParaRPr>
          </a:p>
        </p:txBody>
      </p:sp>
      <p:sp>
        <p:nvSpPr>
          <p:cNvPr id="818" name="textbox 818"/>
          <p:cNvSpPr/>
          <p:nvPr/>
        </p:nvSpPr>
        <p:spPr>
          <a:xfrm>
            <a:off x="7610475" y="10420350"/>
            <a:ext cx="14335125" cy="438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14325" indent="-314325" algn="l" rtl="0" eaLnBrk="0">
              <a:buChar char="•"/>
            </a:pPr>
            <a:r>
              <a:rPr sz="3200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Ferraiolo, D.F. and Kuhn, D.R. (1992) 'Role-based access controls', </a:t>
            </a:r>
            <a:r>
              <a:rPr sz="3200" i="1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15th NCSC.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820" name="textbox 820"/>
          <p:cNvSpPr/>
          <p:nvPr/>
        </p:nvSpPr>
        <p:spPr>
          <a:xfrm>
            <a:off x="7610475" y="11010900"/>
            <a:ext cx="126777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304800" indent="-304800" algn="l" rtl="0" eaLnBrk="0">
              <a:buChar char="•"/>
            </a:pPr>
            <a:r>
              <a:rPr sz="3200" kern="0" spc="0" dirty="0">
                <a:solidFill>
                  <a:schemeClr val="bg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Nielsen, J. (1994) </a:t>
            </a:r>
            <a:r>
              <a:rPr sz="3200" i="1" kern="0" spc="0" dirty="0">
                <a:solidFill>
                  <a:schemeClr val="bg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Usability Engineering. </a:t>
            </a:r>
            <a:r>
              <a:rPr sz="3200" kern="0" spc="0" dirty="0">
                <a:solidFill>
                  <a:schemeClr val="bg1"/>
                </a:solidFill>
                <a:latin typeface="Verdana" panose="020B0604030504040204"/>
                <a:ea typeface="Verdana" panose="020B0604030504040204"/>
                <a:cs typeface="Verdana" panose="020B0604030504040204"/>
              </a:rPr>
              <a:t>San Diego: Academic Press.</a:t>
            </a:r>
            <a:endParaRPr sz="3200" dirty="0">
              <a:solidFill>
                <a:schemeClr val="bg1"/>
              </a:solidFill>
            </a:endParaRPr>
          </a:p>
        </p:txBody>
      </p:sp>
      <p:sp>
        <p:nvSpPr>
          <p:cNvPr id="822" name="textbox 822"/>
          <p:cNvSpPr/>
          <p:nvPr/>
        </p:nvSpPr>
        <p:spPr>
          <a:xfrm>
            <a:off x="7620000" y="11572875"/>
            <a:ext cx="139350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marL="295275" indent="-295275" algn="l" rtl="0" eaLnBrk="0">
              <a:buChar char="•"/>
            </a:pPr>
            <a:r>
              <a:rPr sz="2900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OWASP Foundation (2021) </a:t>
            </a:r>
            <a:r>
              <a:rPr sz="2900" i="1" kern="0" spc="0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OWASP Top Ten Web Application Security Risks.</a:t>
            </a:r>
            <a:endParaRPr sz="2900" dirty="0">
              <a:solidFill>
                <a:schemeClr val="bg1"/>
              </a:solidFill>
            </a:endParaRPr>
          </a:p>
        </p:txBody>
      </p:sp>
      <p:sp>
        <p:nvSpPr>
          <p:cNvPr id="824" name="textbox 824"/>
          <p:cNvSpPr/>
          <p:nvPr/>
        </p:nvSpPr>
        <p:spPr>
          <a:xfrm>
            <a:off x="12858750" y="13277850"/>
            <a:ext cx="6781800" cy="485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endParaRPr sz="3700" dirty="0"/>
          </a:p>
        </p:txBody>
      </p:sp>
      <p:sp>
        <p:nvSpPr>
          <p:cNvPr id="826" name="textbox 826"/>
          <p:cNvSpPr/>
          <p:nvPr/>
        </p:nvSpPr>
        <p:spPr>
          <a:xfrm>
            <a:off x="1266825" y="17411700"/>
            <a:ext cx="689610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700" kern="0" spc="0" dirty="0">
                <a:solidFill>
                  <a:srgbClr val="66666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Job Recruitment System (JRS) - Interim Report</a:t>
            </a:r>
            <a:endParaRPr sz="2700" dirty="0"/>
          </a:p>
        </p:txBody>
      </p:sp>
      <p:sp>
        <p:nvSpPr>
          <p:cNvPr id="828" name="textbox 828"/>
          <p:cNvSpPr/>
          <p:nvPr/>
        </p:nvSpPr>
        <p:spPr>
          <a:xfrm>
            <a:off x="29203650" y="17411700"/>
            <a:ext cx="2009775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none" lIns="0" tIns="0" rIns="0" bIns="0"/>
          <a:lstStyle/>
          <a:p>
            <a:pPr algn="l" rtl="0" eaLnBrk="0"/>
            <a:r>
              <a:rPr sz="2400" kern="0" spc="0" dirty="0">
                <a:solidFill>
                  <a:srgbClr val="41577D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Slide 20 of 20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2344</Words>
  <Application>Microsoft Office PowerPoint</Application>
  <PresentationFormat>自定义</PresentationFormat>
  <Paragraphs>395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微软雅黑</vt:lpstr>
      <vt:lpstr>Arial</vt:lpstr>
      <vt:lpstr>Calibri</vt:lpstr>
      <vt:lpstr>Helvetica</vt:lpstr>
      <vt:lpstr>Montserrat</vt:lpstr>
      <vt:lpstr>Roboto</vt:lpstr>
      <vt:lpstr>Tahoma</vt:lpstr>
      <vt:lpstr>Verdana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Junye Shen</cp:lastModifiedBy>
  <cp:revision>12</cp:revision>
  <dcterms:created xsi:type="dcterms:W3CDTF">2026-07-27T05:42:31Z</dcterms:created>
  <dcterms:modified xsi:type="dcterms:W3CDTF">2026-08-02T12:16:00Z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N">
    <vt:lpwstr>V1BTLUFJLUVuZ2luZQ</vt:lpwstr>
  </property>
  <property fmtid="{D5CDD505-2E9C-101B-9397-08002B2CF9AE}" pid="3" name="KSOProductBuildVer">
    <vt:lpwstr>2052-12.1.0.26895</vt:lpwstr>
  </property>
  <property fmtid="{D5CDD505-2E9C-101B-9397-08002B2CF9AE}" pid="4" name="ICV">
    <vt:lpwstr>009E1B8A8D5A4718A2A69BD848498531_12</vt:lpwstr>
  </property>
</Properties>
</file>