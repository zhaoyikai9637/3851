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3d302a02c4434e" /><Relationship Type="http://schemas.openxmlformats.org/officeDocument/2006/relationships/extended-properties" Target="/docProps/app.xml" Id="R8560eb076ba9442d" /><Relationship Type="http://schemas.openxmlformats.org/officeDocument/2006/relationships/officeDocument" Target="/ppt/presentation.xml" Id="Rb5d01685400c49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5f3fe7a1304856"/>
  </p:sldMasterIdLst>
  <p:notesMasterIdLst>
    <p:notesMasterId xmlns:r="http://schemas.openxmlformats.org/officeDocument/2006/relationships" r:id="R843cca5d9ba64baa"/>
  </p:notesMasterIdLst>
  <p:sldIdLst>
    <p:sldId xmlns:r="http://schemas.openxmlformats.org/officeDocument/2006/relationships" id="256" r:id="R2483d08baecf4615"/>
    <p:sldId xmlns:r="http://schemas.openxmlformats.org/officeDocument/2006/relationships" id="257" r:id="R9e56d90b4cc74c4b"/>
    <p:sldId xmlns:r="http://schemas.openxmlformats.org/officeDocument/2006/relationships" id="258" r:id="R199ef2495f1c4eae"/>
    <p:sldId xmlns:r="http://schemas.openxmlformats.org/officeDocument/2006/relationships" id="259" r:id="R6612ea4b50ee4fb3"/>
    <p:sldId xmlns:r="http://schemas.openxmlformats.org/officeDocument/2006/relationships" id="260" r:id="R96d80a838f1d4602"/>
    <p:sldId xmlns:r="http://schemas.openxmlformats.org/officeDocument/2006/relationships" id="261" r:id="R32e3b269a1ff48e6"/>
    <p:sldId xmlns:r="http://schemas.openxmlformats.org/officeDocument/2006/relationships" id="262" r:id="R92f9a5ad23ae4180"/>
    <p:sldId xmlns:r="http://schemas.openxmlformats.org/officeDocument/2006/relationships" id="263" r:id="Ra30dfbe17a2b48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e08a7ba1ee4f5a" /><Relationship Type="http://schemas.openxmlformats.org/officeDocument/2006/relationships/slideMaster" Target="/ppt/slideMasters/slideMaster1.xml" Id="R995f3fe7a1304856" /><Relationship Type="http://schemas.openxmlformats.org/officeDocument/2006/relationships/notesMaster" Target="/ppt/notesMasters/notesMaster1.xml" Id="R843cca5d9ba64baa" /><Relationship Type="http://schemas.openxmlformats.org/officeDocument/2006/relationships/presProps" Target="/ppt/presProps.xml" Id="R69040570eff5428b" /><Relationship Type="http://schemas.openxmlformats.org/officeDocument/2006/relationships/tableStyles" Target="/ppt/tableStyles.xml" Id="Rd13201baf8334488" /><Relationship Type="http://schemas.openxmlformats.org/officeDocument/2006/relationships/slide" Target="/ppt/slides/slide1.xml" Id="R2483d08baecf4615" /><Relationship Type="http://schemas.openxmlformats.org/officeDocument/2006/relationships/slide" Target="/ppt/slides/slide2.xml" Id="R9e56d90b4cc74c4b" /><Relationship Type="http://schemas.openxmlformats.org/officeDocument/2006/relationships/slide" Target="/ppt/slides/slide3.xml" Id="R199ef2495f1c4eae" /><Relationship Type="http://schemas.openxmlformats.org/officeDocument/2006/relationships/slide" Target="/ppt/slides/slide4.xml" Id="R6612ea4b50ee4fb3" /><Relationship Type="http://schemas.openxmlformats.org/officeDocument/2006/relationships/slide" Target="/ppt/slides/slide5.xml" Id="R96d80a838f1d4602" /><Relationship Type="http://schemas.openxmlformats.org/officeDocument/2006/relationships/slide" Target="/ppt/slides/slide6.xml" Id="R32e3b269a1ff48e6" /><Relationship Type="http://schemas.openxmlformats.org/officeDocument/2006/relationships/slide" Target="/ppt/slides/slide7.xml" Id="R92f9a5ad23ae4180" /><Relationship Type="http://schemas.openxmlformats.org/officeDocument/2006/relationships/slide" Target="/ppt/slides/slide8.xml" Id="Ra30dfbe17a2b48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ea5d6b03484c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eedbb066b04126" /><Relationship Type="http://schemas.openxmlformats.org/officeDocument/2006/relationships/notesMaster" Target="/ppt/notesMasters/notesMaster1.xml" Id="R7216a29d3bb747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f4c7e4aa134622" /><Relationship Type="http://schemas.openxmlformats.org/officeDocument/2006/relationships/notesMaster" Target="/ppt/notesMasters/notesMaster1.xml" Id="R9e9bca40d05248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33b15a14374045" /><Relationship Type="http://schemas.openxmlformats.org/officeDocument/2006/relationships/notesMaster" Target="/ppt/notesMasters/notesMaster1.xml" Id="Ra18c8e557fc044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f236c80c954029" /><Relationship Type="http://schemas.openxmlformats.org/officeDocument/2006/relationships/notesMaster" Target="/ppt/notesMasters/notesMaster1.xml" Id="Rc0ee3869f80141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037b434b8e407e" /><Relationship Type="http://schemas.openxmlformats.org/officeDocument/2006/relationships/notesMaster" Target="/ppt/notesMasters/notesMaster1.xml" Id="R9b277a7cbdc841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fa23457c8c4bbc" /><Relationship Type="http://schemas.openxmlformats.org/officeDocument/2006/relationships/notesMaster" Target="/ppt/notesMasters/notesMaster1.xml" Id="Rdb2fa9d3c8594c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af6c6d24a74ace" /><Relationship Type="http://schemas.openxmlformats.org/officeDocument/2006/relationships/notesMaster" Target="/ppt/notesMasters/notesMaster1.xml" Id="R7fd95124e03a41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588b318d9d4596" /><Relationship Type="http://schemas.openxmlformats.org/officeDocument/2006/relationships/notesMaster" Target="/ppt/notesMasters/notesMaster1.xml" Id="Rf81e76d6c0d146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Hello, my name is Sihuanjia, student ID C3543525. In this video, I will present my applicant-side contribution to the Job Recruitment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User-created project files in this workspace: updated use case report, Figma SVG wireframes, and HTML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main responsibility was the applicant side. I worked on the use case design, wireframes, and the first HTML webpage. I also revised my design after supervisor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User-created project files in this workspace: updated use case report, Figma SVG wireframes, and HTML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first, some functions were too broad. Based on feedback, I changed the design from a job market to a company career website and removed parts that were not useful for applicants.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User-created project files in this workspace: updated use case report, Figma SVG wireframes, and HTML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updated use case diagram. It is less dense and each use case has a clear connection to one or more wireframe pages.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User-created project files in this workspace: updated use case report, Figma SVG wireframes, and HTML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five wireframes are connected. The applicant searches for a role, checks the details, submits one focused application, controls resume visibility, and tracks the application.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User-created project files in this workspace: updated use case report, Figma SVG wireframes, and HTML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application page, I gave more space to work experience because this is where the applicant can show value. I also separated special requirements because each job may ask different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User-created project files in this workspace: updated use case report, Figma SVG wireframes, and HTML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the implementation part, I practised HTML structure, CSS layout, and simple JavaScript filtering. This is the first working page and it connects to the job search wireframe.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User-created project files in this workspace: updated use case report, Figma SVG wireframes, and HTML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conclude, this revision made my applicant-side design more realistic. Next, I will continue building the remaining pages and connect them into a more complete prototype.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User-created project files in this workspace: updated use case report, Figma SVG wireframes, and HTML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dbb5fe5bd4b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b3f01831c24e68" /><Relationship Type="http://schemas.openxmlformats.org/officeDocument/2006/relationships/slideLayout" Target="/ppt/slideLayouts/slideLayout1.xml" Id="Rb8208df1a81e49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208df1a81e49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0f6e8c6834b7b" /><Relationship Type="http://schemas.openxmlformats.org/officeDocument/2006/relationships/notesSlide" Target="/ppt/notesSlides/notesSlide1.xml" Id="Rc1af2d8c1df741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da46a5cf140e8" /><Relationship Type="http://schemas.openxmlformats.org/officeDocument/2006/relationships/notesSlide" Target="/ppt/notesSlides/notesSlide2.xml" Id="R9458294d7de343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ad543f6154234" /><Relationship Type="http://schemas.openxmlformats.org/officeDocument/2006/relationships/notesSlide" Target="/ppt/notesSlides/notesSlide3.xml" Id="R96e87456919b45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e62369a904486" /><Relationship Type="http://schemas.openxmlformats.org/officeDocument/2006/relationships/image" Target="/ppt/media/image.png" Id="R0f687f994efd44db" /><Relationship Type="http://schemas.openxmlformats.org/officeDocument/2006/relationships/notesSlide" Target="/ppt/notesSlides/notesSlide4.xml" Id="R43d39509b29d41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c2c5d497f4af0" /><Relationship Type="http://schemas.openxmlformats.org/officeDocument/2006/relationships/image" Target="/ppt/media/image2.png" Id="R4ce9fe42964b48dc" /><Relationship Type="http://schemas.openxmlformats.org/officeDocument/2006/relationships/image" Target="/ppt/media/image3.png" Id="R6d3e84e21c2b48cc" /><Relationship Type="http://schemas.openxmlformats.org/officeDocument/2006/relationships/image" Target="/ppt/media/image4.png" Id="Re05f71b32c4f4fdd" /><Relationship Type="http://schemas.openxmlformats.org/officeDocument/2006/relationships/image" Target="/ppt/media/image5.png" Id="R28654bc15dec4ea8" /><Relationship Type="http://schemas.openxmlformats.org/officeDocument/2006/relationships/image" Target="/ppt/media/image6.png" Id="Rceaa7fdca4e74ea7" /><Relationship Type="http://schemas.openxmlformats.org/officeDocument/2006/relationships/notesSlide" Target="/ppt/notesSlides/notesSlide5.xml" Id="Rdf54ee10785f49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cb4da42684f26" /><Relationship Type="http://schemas.openxmlformats.org/officeDocument/2006/relationships/image" Target="/ppt/media/image7.png" Id="R11fa2759a67a4181" /><Relationship Type="http://schemas.openxmlformats.org/officeDocument/2006/relationships/notesSlide" Target="/ppt/notesSlides/notesSlide6.xml" Id="Rbbdf7762e4e14b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92b67a31648a7" /><Relationship Type="http://schemas.openxmlformats.org/officeDocument/2006/relationships/notesSlide" Target="/ppt/notesSlides/notesSlide7.xml" Id="R08d4105e7b7741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c54b7b8e54722" /><Relationship Type="http://schemas.openxmlformats.org/officeDocument/2006/relationships/notesSlide" Target="/ppt/notesSlides/notesSlide8.xml" Id="Rcb72464e7cf74c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D7DDB-B649-41C4-BCFC-C55FF864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03A"/>
          </a:solidFill>
          <a:ln xmlns:a="http://schemas.openxmlformats.org/drawingml/2006/main" w="9525">
            <a:solidFill>
              <a:srgbClr val="1020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F6902-2A38-4605-817E-5A64A81D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JRS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11CE3-D9CF-4EDF-AC72-F6430FAB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6EA"/>
                </a:solidFill>
              </a:defRPr>
            </a:pPr>
            <a:r>
              <a:rPr sz="1350" b="0">
                <a:solidFill>
                  <a:srgbClr val="C9D6EA"/>
                </a:solidFill>
              </a:rPr>
              <a:t>Job Recruitment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F3791-6DAA-4AC4-9B39-23152CE5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28750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82033"/>
                </a:solidFill>
              </a:defRPr>
            </a:pPr>
            <a:r>
              <a:rPr sz="3750" b="1">
                <a:solidFill>
                  <a:srgbClr val="182033"/>
                </a:solidFill>
              </a:rPr>
              <a:t>Applicant Side Design</a:t>
            </a:r>
          </a:p>
          <a:p xmlns:a="http://schemas.openxmlformats.org/drawingml/2006/main">
            <a:pPr algn="l">
              <a:defRPr sz="3750" b="1">
                <a:solidFill>
                  <a:srgbClr val="182033"/>
                </a:solidFill>
              </a:defRPr>
            </a:pPr>
            <a:r>
              <a:rPr sz="3750" b="1">
                <a:solidFill>
                  <a:srgbClr val="182033"/>
                </a:solidFill>
              </a:rPr>
              <a:t>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CD116-A3C0-4897-8665-D0FB6D4E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432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Use case revision, wireframe improvement, and first HTML webpage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A8CF1-E13E-4041-9BD9-A004DA7B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197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Sihuanjia  C3543525</a:t>
            </a:r>
          </a:p>
        </p:txBody>
      </p:sp>
    </p:spTree>
    <p:extLst>
      <p:ext uri="{BB962C8B-B14F-4D97-AF65-F5344CB8AC3E}">
        <p14:creationId xmlns:p14="http://schemas.microsoft.com/office/powerpoint/2010/main" val="398414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2A3C1-07FE-4647-A4E4-C62426C8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My work focused on the applicant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5E2F6-3A7C-4E3A-93D6-36A1D060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I narrowed the design to what a job applicant really needs on one company recruitment website.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451DA-F2A8-4C7E-98A5-23B5BCB9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89121-E1E7-4E0C-91BA-39C91516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428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Use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2E621-A76C-4CFC-B9FB-DEBF8D74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Updated the applicant use cases to match a single-company recruitment website.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01FC0-5E66-4CA6-BB31-864E8127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9075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D9432-8076-434F-B880-5DF5153E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19350"/>
            <a:ext cx="1428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Wireframes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63A41-3892-4086-A5C4-5AF695FC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009900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Designed five clearer applicant pages with larger text and more focused layout.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8B5E8-3A0B-4FEC-8F05-1C96A643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1B1B7-B8F4-4EA7-A4D6-2675D384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1428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HTML Page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7411A-20F9-4744-B67E-2AEDE9E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9900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Built the first working page for searching company job postings.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B8661-B8BC-4AB6-B1E5-B71435BD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9075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746C8-89A9-4579-8762-0479DF2B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19350"/>
            <a:ext cx="1428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Reflection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4DC48-A2F9-466C-9F50-2BFDB345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09900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Used supervisor feedback to remove broad or unnecessary functions.</a:t>
            </a:r>
          </a:p>
        </p:txBody>
      </p:sp>
    </p:spTree>
    <p:extLst>
      <p:ext uri="{BB962C8B-B14F-4D97-AF65-F5344CB8AC3E}">
        <p14:creationId xmlns:p14="http://schemas.microsoft.com/office/powerpoint/2010/main" val="1606424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C8539-B22B-4034-AA2F-2B1E0650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Supervisor feedback helped me reduce the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2115F-53B0-4267-ADC8-7BA7467F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The revised design is simpler, more realistic, and easier to implement.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82D67-3C58-4943-8705-B010CA04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6934D-5DA7-4072-9FB0-2A7EE41A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431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</a:defRPr>
            </a:pPr>
            <a:r>
              <a:rPr sz="2250" b="1">
                <a:solidFill>
                  <a:srgbClr val="F59E0B"/>
                </a:solidFill>
              </a:rPr>
              <a:t>Before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6F643-2ECF-4B9D-874E-A0E99EBF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3905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Browse Job Market was too broad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Applicant dashboard was not necessary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Fit percentage was difficult and unrealistic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Application form did not highlight work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3D61D-DCC5-45BB-A2D3-0660492C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D9828-3C71-4299-BF4B-9C468656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431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A169"/>
                </a:solidFill>
              </a:defRPr>
            </a:pPr>
            <a:r>
              <a:rPr sz="2250" b="1">
                <a:solidFill>
                  <a:srgbClr val="38A169"/>
                </a:solidFill>
              </a:rPr>
              <a:t>After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7E7E5-45A8-47D1-BC1A-065118B4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62250"/>
            <a:ext cx="3905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Company job listings only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No applicant dashboard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Manual requirement check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Larger work experience area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Resume visibility control added</a:t>
            </a:r>
          </a:p>
        </p:txBody>
      </p:sp>
    </p:spTree>
    <p:extLst>
      <p:ext uri="{BB962C8B-B14F-4D97-AF65-F5344CB8AC3E}">
        <p14:creationId xmlns:p14="http://schemas.microsoft.com/office/powerpoint/2010/main" val="11683604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A1A89-04AA-4324-B1A3-B7B4F4CC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The updated use case follows one applicant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27397-BF7E-49D3-A6BB-E0564F79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The diagram now works like a directory for the later wireframes and implementation.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87f994efd44db"/>
          <a:stretch xmlns:a="http://schemas.openxmlformats.org/drawingml/2006/main"/>
        </p:blipFill>
        <p:spPr>
          <a:xfrm xmlns:a="http://schemas.openxmlformats.org/drawingml/2006/main">
            <a:off x="742950" y="1589723"/>
            <a:ext cx="6858000" cy="4297680"/>
          </a:xfrm>
          <a:prstGeom xmlns:a="http://schemas.openxmlformats.org/drawingml/2006/main" prst="roundRect">
            <a:avLst>
              <a:gd name="adj" fmla="val 1319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D52D9-8ACE-4F8F-AB6D-47E2B82B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E861A-E45B-4111-8E5C-D8A4480E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033"/>
                </a:solidFill>
              </a:defRPr>
            </a:pPr>
            <a:r>
              <a:rPr sz="1950" b="1">
                <a:solidFill>
                  <a:srgbClr val="182033"/>
                </a:solidFill>
              </a:rPr>
              <a:t>Main use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DA3B1-6513-4389-A21D-98AB0A1F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2476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1. Browse company jobs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2. View role details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3. Submit application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4. Manage resume visibility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5. Track application status</a:t>
            </a:r>
          </a:p>
        </p:txBody>
      </p:sp>
    </p:spTree>
    <p:extLst>
      <p:ext uri="{BB962C8B-B14F-4D97-AF65-F5344CB8AC3E}">
        <p14:creationId xmlns:p14="http://schemas.microsoft.com/office/powerpoint/2010/main" val="102338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5E715-0DB5-4F3B-9A1E-990B5A18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The wireframes connect as one applicant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54577-C4F6-4C8D-A1CB-ABC3378E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Each page supports the next decision instead of showing unrelated information.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9fe42964b48dc"/>
          <a:stretch xmlns:a="http://schemas.openxmlformats.org/drawingml/2006/main"/>
        </p:blipFill>
        <p:spPr>
          <a:xfrm xmlns:a="http://schemas.openxmlformats.org/drawingml/2006/main">
            <a:off x="619125" y="1982258"/>
            <a:ext cx="1952625" cy="1388533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122D2-F72B-4FFE-B44B-E11085AE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Find role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9E2C4-EC0C-4E38-A4D1-D4517FC4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6FED"/>
                </a:solidFill>
              </a:defRPr>
            </a:pPr>
            <a:r>
              <a:rPr sz="2550" b="1">
                <a:solidFill>
                  <a:srgbClr val="2F6FED"/>
                </a:solidFill>
              </a:rPr>
              <a:t>→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e84e21c2b48cc"/>
          <a:stretch xmlns:a="http://schemas.openxmlformats.org/drawingml/2006/main"/>
        </p:blipFill>
        <p:spPr>
          <a:xfrm xmlns:a="http://schemas.openxmlformats.org/drawingml/2006/main">
            <a:off x="2857500" y="1982258"/>
            <a:ext cx="1952625" cy="1388533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0FDDE-781E-487C-8D1E-5CCAAA75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242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Read details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B308F-F47C-45E5-98AE-5142CB05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6FED"/>
                </a:solidFill>
              </a:defRPr>
            </a:pPr>
            <a:r>
              <a:rPr sz="2550" b="1">
                <a:solidFill>
                  <a:srgbClr val="2F6FED"/>
                </a:solidFill>
              </a:rPr>
              <a:t>→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f71b32c4f4fdd"/>
          <a:stretch xmlns:a="http://schemas.openxmlformats.org/drawingml/2006/main"/>
        </p:blipFill>
        <p:spPr>
          <a:xfrm xmlns:a="http://schemas.openxmlformats.org/drawingml/2006/main">
            <a:off x="5095875" y="1982258"/>
            <a:ext cx="1952625" cy="1388533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230D5-DB4D-462A-ADE1-A86CA9BE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242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23BFE-4407-41F4-BCFA-3E4C4AB1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6FED"/>
                </a:solidFill>
              </a:defRPr>
            </a:pPr>
            <a:r>
              <a:rPr sz="2550" b="1">
                <a:solidFill>
                  <a:srgbClr val="2F6FED"/>
                </a:solidFill>
              </a:rPr>
              <a:t>→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54bc15dec4ea8"/>
          <a:stretch xmlns:a="http://schemas.openxmlformats.org/drawingml/2006/main"/>
        </p:blipFill>
        <p:spPr>
          <a:xfrm xmlns:a="http://schemas.openxmlformats.org/drawingml/2006/main">
            <a:off x="7334250" y="1982258"/>
            <a:ext cx="1952625" cy="1388533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716C9-0017-46ED-8378-09CBDCB8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Resume setting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1CB3C-0793-4976-8175-CB63923B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765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6FED"/>
                </a:solidFill>
              </a:defRPr>
            </a:pPr>
            <a:r>
              <a:rPr sz="2550" b="1">
                <a:solidFill>
                  <a:srgbClr val="2F6FED"/>
                </a:solidFill>
              </a:rPr>
              <a:t>→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a7fdca4e74ea7"/>
          <a:stretch xmlns:a="http://schemas.openxmlformats.org/drawingml/2006/main"/>
        </p:blipFill>
        <p:spPr>
          <a:xfrm xmlns:a="http://schemas.openxmlformats.org/drawingml/2006/main">
            <a:off x="9572625" y="1982258"/>
            <a:ext cx="1952625" cy="1388533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FC1DF-AF61-4D05-B8BD-0E066FB1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242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Track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F3694-13C0-4ED7-8CA1-9CDC5166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5BE4E-D94A-4BFA-9D73-5EC0A2B8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292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A"/>
                </a:solidFill>
              </a:defRPr>
            </a:pPr>
            <a:r>
              <a:rPr sz="1800" b="1">
                <a:solidFill>
                  <a:srgbClr val="10203A"/>
                </a:solidFill>
              </a:rPr>
              <a:t>The flow supports one serious application for a suitable role, not many random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0679347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50EB1-FDC9-4546-9EFE-F079C388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The application form gives more space to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616B6-E6EB-402D-9814-7E5DDD44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This change matches the feedback that work experience is the applicant's main value.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a2759a67a4181"/>
          <a:stretch xmlns:a="http://schemas.openxmlformats.org/drawingml/2006/main"/>
        </p:blipFill>
        <p:spPr>
          <a:xfrm xmlns:a="http://schemas.openxmlformats.org/drawingml/2006/main">
            <a:off x="763488" y="1476375"/>
            <a:ext cx="5331023" cy="3790950"/>
          </a:xfrm>
          <a:prstGeom xmlns:a="http://schemas.openxmlformats.org/drawingml/2006/main" prst="roundRect">
            <a:avLst>
              <a:gd name="adj" fmla="val 150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5641F-9078-4BF2-81FB-F656B6F4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4095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0156D-4FB0-4ACE-A06C-1B341881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Design changes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C0297-A9B3-4BDF-8135-6495BD14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19375"/>
            <a:ext cx="3143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Larger work experience section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Separate role-specific questions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Clear save draft and submit actions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Fewer unrelated fields</a:t>
            </a:r>
          </a:p>
        </p:txBody>
      </p:sp>
    </p:spTree>
    <p:extLst>
      <p:ext uri="{BB962C8B-B14F-4D97-AF65-F5344CB8AC3E}">
        <p14:creationId xmlns:p14="http://schemas.microsoft.com/office/powerpoint/2010/main" val="824610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C5F5D-AB2D-4180-B05B-F014434D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The first page was implemented with HTML, CSS, and JavaScript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18B7A-A6DF-4F4D-B6AF-D235BB0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The prototype demonstrates search and filtering for company job postings.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581D3-FE08-4371-B957-E729A953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143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203A"/>
          </a:solidFill>
          <a:ln xmlns:a="http://schemas.openxmlformats.org/drawingml/2006/main" w="9525">
            <a:solidFill>
              <a:srgbClr val="1020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3354E-3D48-420A-B93B-2F739EE1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43338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BEAFE"/>
                </a:solidFill>
              </a:defRPr>
            </a:pPr>
            <a:r>
              <a:rPr sz="1950" b="0">
                <a:solidFill>
                  <a:srgbClr val="DBEAFE"/>
                </a:solidFill>
              </a:rPr>
              <a:t>&lt;input id="searchInput"&gt;</a:t>
            </a:r>
          </a:p>
          <a:p xmlns:a="http://schemas.openxmlformats.org/drawingml/2006/main">
            <a:pPr algn="l">
              <a:defRPr sz="1950" b="0">
                <a:solidFill>
                  <a:srgbClr val="DBEAFE"/>
                </a:solidFill>
              </a:defRPr>
            </a:pPr>
            <a:r>
              <a:rPr sz="1950" b="0">
                <a:solidFill>
                  <a:srgbClr val="DBEAFE"/>
                </a:solidFill>
              </a:rPr>
              <a:t>&lt;button onclick="filterJobs()"&gt;Search&lt;/button&gt;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DBEAFE"/>
                </a:solidFill>
              </a:defRPr>
            </a:pPr>
            <a:r>
              <a:rPr sz="1950" b="0">
                <a:solidFill>
                  <a:srgbClr val="DBEAFE"/>
                </a:solidFill>
              </a:rPr>
              <a:t>function filterJobs() {</a:t>
            </a:r>
          </a:p>
          <a:p xmlns:a="http://schemas.openxmlformats.org/drawingml/2006/main">
            <a:pPr algn="l">
              <a:defRPr sz="1950" b="0">
                <a:solidFill>
                  <a:srgbClr val="DBEAFE"/>
                </a:solidFill>
              </a:defRPr>
            </a:pPr>
            <a:r>
              <a:rPr sz="1950" b="0">
                <a:solidFill>
                  <a:srgbClr val="DBEAFE"/>
                </a:solidFill>
              </a:rPr>
              <a:t>  // Filter company job cards</a:t>
            </a:r>
          </a:p>
          <a:p xmlns:a="http://schemas.openxmlformats.org/drawingml/2006/main">
            <a:pPr algn="l">
              <a:defRPr sz="1950" b="0">
                <a:solidFill>
                  <a:srgbClr val="DBEAFE"/>
                </a:solidFill>
              </a:defRPr>
            </a:pPr>
            <a:r>
              <a:rPr sz="1950" b="0">
                <a:solidFill>
                  <a:srgbClr val="DBEAFE"/>
                </a:solidFill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A8239-9269-491F-8969-1954CA30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3905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F77DE-5BE4-4B22-85BB-987999F1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Implemented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D729C-4558-45F3-B7A9-FA0C3C5E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14625"/>
            <a:ext cx="295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Company job search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Filter-friendly job cards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View Details / Apply buttons</a:t>
            </a:r>
          </a:p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• Responsive visual layout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C1122-E88B-4471-9529-7B516518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File: web/01_jobs_search/index.html</a:t>
            </a:r>
          </a:p>
        </p:txBody>
      </p:sp>
    </p:spTree>
    <p:extLst>
      <p:ext uri="{BB962C8B-B14F-4D97-AF65-F5344CB8AC3E}">
        <p14:creationId xmlns:p14="http://schemas.microsoft.com/office/powerpoint/2010/main" val="1690711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C3375-D793-4620-A11C-E9C0D06A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This revision made the applicant side more realistic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B25A0-0A5F-4019-BC06-C9064EE5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The next stage is to continue turning the wireframes into working webpages.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D5625-4C11-4984-BCF1-C1711053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952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AAA6B-8FF6-4055-8A85-B4C83C2E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86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FED"/>
                </a:solidFill>
              </a:defRPr>
            </a:pPr>
            <a:r>
              <a:rPr sz="2100" b="1">
                <a:solidFill>
                  <a:srgbClr val="2F6FED"/>
                </a:solidFill>
              </a:rPr>
              <a:t>What I learned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66116-6304-4B87-97CD-C3B6867C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05125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Use cases should match the real user and project scope.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02E41-BA6F-4485-BE23-F3DC27AC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952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12536-70BA-43BC-ACDE-E091819B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86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A169"/>
                </a:solidFill>
              </a:defRPr>
            </a:pPr>
            <a:r>
              <a:rPr sz="2100" b="1">
                <a:solidFill>
                  <a:srgbClr val="38A169"/>
                </a:solidFill>
              </a:rPr>
              <a:t>What improved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A2738-605F-4E20-89F8-C1227423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05125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The pages are clearer, less crowded, and easier to implement.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B3B02-2C6E-4212-9835-2FA45B1C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952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D3953-A208-4A8E-AEF0-3C726E8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86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Next 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0B23E-2907-44FA-B812-38C3F3FB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05125"/>
            <a:ext cx="2238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033"/>
                </a:solidFill>
              </a:defRPr>
            </a:pPr>
            <a:r>
              <a:rPr sz="1800" b="0">
                <a:solidFill>
                  <a:srgbClr val="182033"/>
                </a:solidFill>
              </a:rPr>
              <a:t>Build the remaining applicant pages and connect them in the prototype.</a:t>
            </a:r>
          </a:p>
        </p:txBody>
      </p:sp>
    </p:spTree>
    <p:extLst>
      <p:ext uri="{BB962C8B-B14F-4D97-AF65-F5344CB8AC3E}">
        <p14:creationId xmlns:p14="http://schemas.microsoft.com/office/powerpoint/2010/main" val="1792630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2026-08-02T07:10:27.5040000Z</dcterms:created>
  <dcterms:modified xsi:type="dcterms:W3CDTF">2026-08-02T07:10:27.5040000Z</dcterms:modified>
</coreProperties>
</file>